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7" r:id="rId1"/>
  </p:sldMasterIdLst>
  <p:notesMasterIdLst>
    <p:notesMasterId r:id="rId33"/>
  </p:notesMasterIdLst>
  <p:sldIdLst>
    <p:sldId id="256" r:id="rId2"/>
    <p:sldId id="270" r:id="rId3"/>
    <p:sldId id="258" r:id="rId4"/>
    <p:sldId id="269" r:id="rId5"/>
    <p:sldId id="273" r:id="rId6"/>
    <p:sldId id="274" r:id="rId7"/>
    <p:sldId id="275" r:id="rId8"/>
    <p:sldId id="259" r:id="rId9"/>
    <p:sldId id="261" r:id="rId10"/>
    <p:sldId id="281" r:id="rId11"/>
    <p:sldId id="282" r:id="rId12"/>
    <p:sldId id="285" r:id="rId13"/>
    <p:sldId id="283" r:id="rId14"/>
    <p:sldId id="284" r:id="rId15"/>
    <p:sldId id="277" r:id="rId16"/>
    <p:sldId id="262" r:id="rId17"/>
    <p:sldId id="276" r:id="rId18"/>
    <p:sldId id="263" r:id="rId19"/>
    <p:sldId id="278" r:id="rId20"/>
    <p:sldId id="279" r:id="rId21"/>
    <p:sldId id="286" r:id="rId22"/>
    <p:sldId id="301" r:id="rId23"/>
    <p:sldId id="300" r:id="rId24"/>
    <p:sldId id="302" r:id="rId25"/>
    <p:sldId id="303" r:id="rId26"/>
    <p:sldId id="304" r:id="rId27"/>
    <p:sldId id="305" r:id="rId28"/>
    <p:sldId id="306" r:id="rId29"/>
    <p:sldId id="307" r:id="rId30"/>
    <p:sldId id="280" r:id="rId31"/>
    <p:sldId id="267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Gaya Medium 2 - Akse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Gaya Medium 2 - Akse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Gaya Medium 2 - Akse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Gaya Medium 2 - Akse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Gaya Terang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38" autoAdjust="0"/>
  </p:normalViewPr>
  <p:slideViewPr>
    <p:cSldViewPr snapToGrid="0" snapToObjects="1">
      <p:cViewPr varScale="1">
        <p:scale>
          <a:sx n="64" d="100"/>
          <a:sy n="64" d="100"/>
        </p:scale>
        <p:origin x="148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859780740266165"/>
          <c:y val="3.4889746835538249E-2"/>
          <c:w val="0.82218567575529633"/>
          <c:h val="0.69135845647826188"/>
        </c:manualLayout>
      </c:layout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lt1"/>
              </a:solidFill>
              <a:ln w="15875">
                <a:solidFill>
                  <a:schemeClr val="accent1"/>
                </a:solidFill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8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125-40CA-809F-0CC9F27210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35228559"/>
        <c:axId val="1935218959"/>
      </c:scatterChart>
      <c:valAx>
        <c:axId val="19352285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Jam Belajar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5218959"/>
        <c:crosses val="autoZero"/>
        <c:crossBetween val="midCat"/>
      </c:valAx>
      <c:valAx>
        <c:axId val="1935218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Kelulusan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5228559"/>
        <c:crosses val="autoZero"/>
        <c:crossBetween val="midCat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5875" cap="flat" cmpd="sng" algn="ctr">
      <a:solidFill>
        <a:schemeClr val="accent1"/>
      </a:solidFill>
      <a:prstDash val="solid"/>
      <a:round/>
    </a:ln>
    <a:effectLst>
      <a:outerShdw blurRad="50800" dist="38100" algn="l" rotWithShape="0">
        <a:prstClr val="black">
          <a:alpha val="40000"/>
        </a:prstClr>
      </a:outerShdw>
    </a:effectLst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Hea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Tampungan Tanggal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8D4E8-865D-4A43-B23C-7164A0CAF720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Tampungan Gambar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Tampungan Catata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666227-570F-4F27-8D4F-D447BBA7E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Odd = </a:t>
            </a:r>
            <a:r>
              <a:rPr lang="en-US" dirty="0" err="1"/>
              <a:t>rasio</a:t>
            </a:r>
            <a:r>
              <a:rPr lang="en-US" dirty="0"/>
              <a:t> </a:t>
            </a:r>
            <a:r>
              <a:rPr lang="en-US" dirty="0" err="1"/>
              <a:t>sakit</a:t>
            </a:r>
            <a:r>
              <a:rPr lang="en-US" dirty="0"/>
              <a:t> : </a:t>
            </a:r>
            <a:r>
              <a:rPr lang="en-US" dirty="0" err="1"/>
              <a:t>rasio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sakit</a:t>
            </a:r>
            <a:endParaRPr lang="en-US" dirty="0"/>
          </a:p>
          <a:p>
            <a:r>
              <a:rPr lang="en-US" dirty="0" err="1"/>
              <a:t>Sehingga</a:t>
            </a:r>
            <a:r>
              <a:rPr lang="en-US" dirty="0"/>
              <a:t> Ketika odd(</a:t>
            </a:r>
            <a:r>
              <a:rPr lang="en-US" dirty="0" err="1"/>
              <a:t>perokok</a:t>
            </a:r>
            <a:r>
              <a:rPr lang="en-US" dirty="0"/>
              <a:t>) =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sakit</a:t>
            </a:r>
            <a:r>
              <a:rPr lang="en-US" dirty="0"/>
              <a:t> :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sakit</a:t>
            </a:r>
            <a:endParaRPr lang="en-US" dirty="0"/>
          </a:p>
          <a:p>
            <a:r>
              <a:rPr lang="en-US" dirty="0" err="1"/>
              <a:t>Sedangkan</a:t>
            </a:r>
            <a:r>
              <a:rPr lang="en-US" dirty="0"/>
              <a:t> odd </a:t>
            </a:r>
            <a:r>
              <a:rPr lang="en-US" dirty="0" err="1"/>
              <a:t>rasio</a:t>
            </a:r>
            <a:r>
              <a:rPr lang="en-US" dirty="0"/>
              <a:t> = </a:t>
            </a:r>
            <a:r>
              <a:rPr lang="en-US" dirty="0" err="1"/>
              <a:t>perbandingan</a:t>
            </a:r>
            <a:r>
              <a:rPr lang="en-US" dirty="0"/>
              <a:t> odds dua </a:t>
            </a:r>
            <a:r>
              <a:rPr lang="en-US" dirty="0" err="1"/>
              <a:t>kelompok</a:t>
            </a:r>
            <a:endParaRPr lang="en-US" dirty="0"/>
          </a:p>
          <a:p>
            <a:r>
              <a:rPr lang="en-US" dirty="0"/>
              <a:t>Odd </a:t>
            </a:r>
            <a:r>
              <a:rPr lang="en-US" dirty="0" err="1"/>
              <a:t>rasio</a:t>
            </a:r>
            <a:r>
              <a:rPr lang="en-US" dirty="0"/>
              <a:t> </a:t>
            </a:r>
            <a:r>
              <a:rPr lang="en-US" dirty="0" err="1"/>
              <a:t>mengukur</a:t>
            </a:r>
            <a:r>
              <a:rPr lang="en-US" dirty="0"/>
              <a:t> </a:t>
            </a:r>
            <a:r>
              <a:rPr lang="en-US" dirty="0" err="1"/>
              <a:t>pengaruh</a:t>
            </a:r>
            <a:r>
              <a:rPr lang="en-US" dirty="0"/>
              <a:t>/</a:t>
            </a:r>
            <a:r>
              <a:rPr lang="en-US" dirty="0" err="1"/>
              <a:t>pembeda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kondisi</a:t>
            </a:r>
            <a:endParaRPr lang="en-US" dirty="0"/>
          </a:p>
          <a:p>
            <a:r>
              <a:rPr lang="en-US" dirty="0"/>
              <a:t>Odd </a:t>
            </a:r>
            <a:r>
              <a:rPr lang="en-US" dirty="0" err="1"/>
              <a:t>rasio</a:t>
            </a:r>
            <a:r>
              <a:rPr lang="en-US" dirty="0"/>
              <a:t> 3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perokok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odds </a:t>
            </a:r>
            <a:r>
              <a:rPr lang="en-US" dirty="0" err="1"/>
              <a:t>terkena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</a:t>
            </a:r>
            <a:r>
              <a:rPr lang="en-US" dirty="0" err="1"/>
              <a:t>jantung</a:t>
            </a:r>
            <a:r>
              <a:rPr lang="en-US" dirty="0"/>
              <a:t> 3 kali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ringgi</a:t>
            </a:r>
            <a:r>
              <a:rPr lang="en-US" dirty="0"/>
              <a:t> </a:t>
            </a:r>
            <a:r>
              <a:rPr lang="en-US" dirty="0" err="1"/>
              <a:t>dibanding</a:t>
            </a:r>
            <a:r>
              <a:rPr lang="en-US" dirty="0"/>
              <a:t> orang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merokok</a:t>
            </a:r>
            <a:endParaRPr lang="en-US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66227-570F-4F27-8D4F-D447BBA7E0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03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66227-570F-4F27-8D4F-D447BBA7E0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62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Judul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d-ID"/>
              <a:t>Klik untuk mengedit gaya subjudul Master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369963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3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Header Bagia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8611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63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59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95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62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34247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d-ID"/>
              <a:t>Klik ikon untuk menambahkan gambar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05953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46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74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56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d-ID"/>
              <a:t>Klik untuk mengedit gaya judul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3636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Logistic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5804721-5FF5-6704-F447-F4442F97B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1365957"/>
            <a:ext cx="7469319" cy="40414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5400" dirty="0" err="1"/>
              <a:t>konsep</a:t>
            </a:r>
            <a:r>
              <a:rPr lang="en-US" sz="5400" dirty="0"/>
              <a:t> </a:t>
            </a:r>
            <a:r>
              <a:rPr lang="en-US" sz="5400" dirty="0" err="1"/>
              <a:t>dasar</a:t>
            </a:r>
            <a:r>
              <a:rPr lang="en-US" sz="5400" dirty="0"/>
              <a:t> </a:t>
            </a:r>
            <a:r>
              <a:rPr lang="en-US" sz="5400" dirty="0" err="1"/>
              <a:t>regresi</a:t>
            </a:r>
            <a:r>
              <a:rPr lang="en-US" sz="5400" dirty="0"/>
              <a:t> </a:t>
            </a:r>
            <a:r>
              <a:rPr lang="en-US" sz="5400" dirty="0" err="1"/>
              <a:t>logistik</a:t>
            </a:r>
            <a:r>
              <a:rPr lang="en-US" sz="5400" dirty="0"/>
              <a:t> dan </a:t>
            </a:r>
            <a:r>
              <a:rPr lang="en-US" sz="5400" dirty="0" err="1"/>
              <a:t>perbedaannya</a:t>
            </a:r>
            <a:r>
              <a:rPr lang="en-US" sz="5400" dirty="0"/>
              <a:t> </a:t>
            </a:r>
            <a:r>
              <a:rPr lang="en-US" sz="5400" dirty="0" err="1"/>
              <a:t>dengan</a:t>
            </a:r>
            <a:r>
              <a:rPr lang="en-US" sz="5400" dirty="0"/>
              <a:t> </a:t>
            </a:r>
            <a:r>
              <a:rPr lang="en-US" sz="5400" dirty="0" err="1"/>
              <a:t>regresi</a:t>
            </a:r>
            <a:r>
              <a:rPr lang="en-US" sz="5400" dirty="0"/>
              <a:t> linier.</a:t>
            </a:r>
            <a:br>
              <a:rPr lang="en-US" sz="5400" dirty="0"/>
            </a:b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824026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823515"/>
          </a:xfrm>
        </p:spPr>
        <p:txBody>
          <a:bodyPr/>
          <a:lstStyle/>
          <a:p>
            <a:r>
              <a:rPr dirty="0" err="1"/>
              <a:t>Motivasi</a:t>
            </a:r>
            <a:r>
              <a:rPr dirty="0"/>
              <a:t> dan </a:t>
            </a:r>
            <a:r>
              <a:rPr dirty="0" err="1"/>
              <a:t>Konsep</a:t>
            </a:r>
            <a:r>
              <a:rPr dirty="0"/>
              <a:t> Dasar</a:t>
            </a:r>
          </a:p>
        </p:txBody>
      </p:sp>
      <p:pic>
        <p:nvPicPr>
          <p:cNvPr id="6" name="Gambar 23">
            <a:extLst>
              <a:ext uri="{FF2B5EF4-FFF2-40B4-BE49-F238E27FC236}">
                <a16:creationId xmlns:a16="http://schemas.microsoft.com/office/drawing/2014/main" id="{3A707F2C-CCC5-3ED2-48C4-6F1EDDF6B9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95" t="52323" b="170"/>
          <a:stretch>
            <a:fillRect/>
          </a:stretch>
        </p:blipFill>
        <p:spPr>
          <a:xfrm>
            <a:off x="4034446" y="1487259"/>
            <a:ext cx="4122619" cy="1852155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23B14AD-89A3-FD93-A116-94DB97EB62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8436960"/>
              </p:ext>
            </p:extLst>
          </p:nvPr>
        </p:nvGraphicFramePr>
        <p:xfrm>
          <a:off x="4034447" y="3679134"/>
          <a:ext cx="4122618" cy="2031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A99DF33-C0AB-5AE0-2322-182839B8E4D9}"/>
              </a:ext>
            </a:extLst>
          </p:cNvPr>
          <p:cNvSpPr txBox="1"/>
          <p:nvPr/>
        </p:nvSpPr>
        <p:spPr>
          <a:xfrm>
            <a:off x="822960" y="1397675"/>
            <a:ext cx="2956559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Regresi</a:t>
            </a:r>
            <a:r>
              <a:rPr lang="en-US" dirty="0"/>
              <a:t> Linier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memprediksi</a:t>
            </a:r>
            <a:r>
              <a:rPr lang="en-US" dirty="0"/>
              <a:t> </a:t>
            </a:r>
            <a:r>
              <a:rPr lang="en-US" dirty="0" err="1"/>
              <a:t>nilai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berdasarkan</a:t>
            </a:r>
            <a:r>
              <a:rPr lang="en-US" dirty="0"/>
              <a:t> jam </a:t>
            </a:r>
            <a:r>
              <a:rPr lang="en-US" dirty="0" err="1"/>
              <a:t>belajar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diketahui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akhir</a:t>
            </a:r>
            <a:r>
              <a:rPr lang="en-US" dirty="0"/>
              <a:t> </a:t>
            </a:r>
            <a:r>
              <a:rPr lang="en-US" dirty="0" err="1"/>
              <a:t>siswa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C8FEF5-4914-1171-6339-8A5FACF93542}"/>
              </a:ext>
            </a:extLst>
          </p:cNvPr>
          <p:cNvSpPr txBox="1"/>
          <p:nvPr/>
        </p:nvSpPr>
        <p:spPr>
          <a:xfrm>
            <a:off x="822960" y="3757129"/>
            <a:ext cx="2956559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Logistik </a:t>
            </a:r>
            <a:r>
              <a:rPr lang="en-US" dirty="0" err="1"/>
              <a:t>Regresi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{0,1}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berdasarkan</a:t>
            </a:r>
            <a:r>
              <a:rPr lang="en-US" dirty="0"/>
              <a:t> jam </a:t>
            </a:r>
            <a:r>
              <a:rPr lang="en-US" dirty="0" err="1"/>
              <a:t>belajar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diketahui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siswa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lulus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tidak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D0D5A-2EEF-CEA9-9CBE-29557D971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Perbedaan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A1F74-0B55-CAEE-3912-93DF6F1D0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Regresi</a:t>
            </a:r>
            <a:r>
              <a:rPr lang="en-US" dirty="0"/>
              <a:t> Linier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A7737-02AA-DD16-9BC6-7F0259CBDE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Memprediksi Nilai</a:t>
            </a:r>
          </a:p>
          <a:p>
            <a:r>
              <a:rPr lang="en-US" dirty="0" err="1"/>
              <a:t>Menentukan</a:t>
            </a:r>
            <a:r>
              <a:rPr lang="en-US" dirty="0"/>
              <a:t> garis </a:t>
            </a:r>
            <a:r>
              <a:rPr lang="en-US" dirty="0" err="1"/>
              <a:t>lurus</a:t>
            </a:r>
            <a:r>
              <a:rPr lang="en-US" dirty="0"/>
              <a:t>, </a:t>
            </a:r>
            <a:r>
              <a:rPr lang="en-US" dirty="0" err="1"/>
              <a:t>menggunakan</a:t>
            </a:r>
            <a:r>
              <a:rPr lang="en-US" dirty="0"/>
              <a:t> least square, </a:t>
            </a:r>
            <a:r>
              <a:rPr lang="en-US" dirty="0" err="1"/>
              <a:t>dievaluasi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R</a:t>
            </a:r>
            <a:r>
              <a:rPr lang="en-US" baseline="30000" dirty="0"/>
              <a:t>2</a:t>
            </a:r>
          </a:p>
          <a:p>
            <a:pPr marL="0" indent="0">
              <a:buNone/>
            </a:pPr>
            <a:r>
              <a:rPr lang="en-US" baseline="30000" dirty="0"/>
              <a:t>	</a:t>
            </a:r>
          </a:p>
          <a:p>
            <a:endParaRPr lang="en-US" baseline="30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006E7-23BF-682C-E806-F0CA112C8F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Logistik </a:t>
            </a:r>
            <a:r>
              <a:rPr lang="en-US" dirty="0" err="1"/>
              <a:t>Regresi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372AC9-80BF-AAA2-9F4C-32C6AFB1E23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Mengklasifikasikan </a:t>
            </a:r>
            <a:r>
              <a:rPr lang="en-US" dirty="0" err="1"/>
              <a:t>kelas</a:t>
            </a:r>
            <a:r>
              <a:rPr lang="en-US" dirty="0"/>
              <a:t>/label</a:t>
            </a:r>
          </a:p>
          <a:p>
            <a:r>
              <a:rPr lang="en-US" dirty="0" err="1"/>
              <a:t>Memprediksi</a:t>
            </a:r>
            <a:r>
              <a:rPr lang="en-US" dirty="0"/>
              <a:t> </a:t>
            </a:r>
            <a:r>
              <a:rPr lang="en-US" dirty="0" err="1"/>
              <a:t>grafik</a:t>
            </a:r>
            <a:r>
              <a:rPr lang="en-US" dirty="0"/>
              <a:t> Sigmoid, </a:t>
            </a:r>
            <a:r>
              <a:rPr lang="en-US" dirty="0" err="1"/>
              <a:t>menggunakan</a:t>
            </a:r>
            <a:r>
              <a:rPr lang="en-US" dirty="0"/>
              <a:t> maximum likelihood</a:t>
            </a:r>
          </a:p>
        </p:txBody>
      </p:sp>
    </p:spTree>
    <p:extLst>
      <p:ext uri="{BB962C8B-B14F-4D97-AF65-F5344CB8AC3E}">
        <p14:creationId xmlns:p14="http://schemas.microsoft.com/office/powerpoint/2010/main" val="2081573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77757-E6FB-F1FB-DC53-9747CF21E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55A2B24-A60F-CD98-02C1-E7F3E9CD4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164" y="1871131"/>
            <a:ext cx="6782908" cy="290790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sv-SE" sz="3600" dirty="0"/>
              <a:t>fungsi logit dan sigmoid</a:t>
            </a:r>
            <a:br>
              <a:rPr lang="en-US" sz="2200" dirty="0">
                <a:solidFill>
                  <a:schemeClr val="tx1"/>
                </a:solidFill>
              </a:rPr>
            </a:b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723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5DB8DB5-750A-C3CC-F23F-98B9448E9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13750"/>
            <a:ext cx="7200900" cy="771578"/>
          </a:xfrm>
        </p:spPr>
        <p:txBody>
          <a:bodyPr/>
          <a:lstStyle/>
          <a:p>
            <a:r>
              <a:rPr lang="en-US" dirty="0"/>
              <a:t>ODD’s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654561F9-D7B1-AB6E-364E-C0824F08CF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715" y="902608"/>
            <a:ext cx="7772870" cy="602448"/>
          </a:xfrm>
        </p:spPr>
        <p:txBody>
          <a:bodyPr/>
          <a:lstStyle/>
          <a:p>
            <a:r>
              <a:rPr lang="en-US" dirty="0" err="1"/>
              <a:t>Berikut</a:t>
            </a:r>
            <a:r>
              <a:rPr lang="en-US" dirty="0"/>
              <a:t> Adalah data </a:t>
            </a:r>
            <a:r>
              <a:rPr lang="en-US" dirty="0" err="1"/>
              <a:t>perokok</a:t>
            </a:r>
            <a:r>
              <a:rPr lang="en-US" dirty="0"/>
              <a:t> dan </a:t>
            </a:r>
            <a:r>
              <a:rPr lang="en-US" dirty="0" err="1"/>
              <a:t>penyakit</a:t>
            </a:r>
            <a:r>
              <a:rPr lang="en-US" dirty="0"/>
              <a:t> </a:t>
            </a:r>
            <a:r>
              <a:rPr lang="en-US" dirty="0" err="1"/>
              <a:t>jantung</a:t>
            </a:r>
            <a:endParaRPr lang="en-US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B1065291-AB00-98EE-7406-BC0E4FC33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079376"/>
              </p:ext>
            </p:extLst>
          </p:nvPr>
        </p:nvGraphicFramePr>
        <p:xfrm>
          <a:off x="1028700" y="1386800"/>
          <a:ext cx="5416452" cy="1600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54113">
                  <a:extLst>
                    <a:ext uri="{9D8B030D-6E8A-4147-A177-3AD203B41FA5}">
                      <a16:colId xmlns:a16="http://schemas.microsoft.com/office/drawing/2014/main" val="4208538294"/>
                    </a:ext>
                  </a:extLst>
                </a:gridCol>
                <a:gridCol w="1354113">
                  <a:extLst>
                    <a:ext uri="{9D8B030D-6E8A-4147-A177-3AD203B41FA5}">
                      <a16:colId xmlns:a16="http://schemas.microsoft.com/office/drawing/2014/main" val="2244165025"/>
                    </a:ext>
                  </a:extLst>
                </a:gridCol>
                <a:gridCol w="1354113">
                  <a:extLst>
                    <a:ext uri="{9D8B030D-6E8A-4147-A177-3AD203B41FA5}">
                      <a16:colId xmlns:a16="http://schemas.microsoft.com/office/drawing/2014/main" val="99388650"/>
                    </a:ext>
                  </a:extLst>
                </a:gridCol>
                <a:gridCol w="1354113">
                  <a:extLst>
                    <a:ext uri="{9D8B030D-6E8A-4147-A177-3AD203B41FA5}">
                      <a16:colId xmlns:a16="http://schemas.microsoft.com/office/drawing/2014/main" val="3533408091"/>
                    </a:ext>
                  </a:extLst>
                </a:gridCol>
              </a:tblGrid>
              <a:tr h="489631">
                <a:tc>
                  <a:txBody>
                    <a:bodyPr/>
                    <a:lstStyle/>
                    <a:p>
                      <a:r>
                        <a:rPr lang="en-US" dirty="0" err="1"/>
                        <a:t>Kelompok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Punya </a:t>
                      </a:r>
                      <a:r>
                        <a:rPr lang="en-US" dirty="0" err="1"/>
                        <a:t>penyakit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jantung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Tidak punya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396841"/>
                  </a:ext>
                </a:extLst>
              </a:tr>
              <a:tr h="332090">
                <a:tc>
                  <a:txBody>
                    <a:bodyPr/>
                    <a:lstStyle/>
                    <a:p>
                      <a:r>
                        <a:rPr lang="en-US" dirty="0" err="1"/>
                        <a:t>Perokok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782675"/>
                  </a:ext>
                </a:extLst>
              </a:tr>
              <a:tr h="332090">
                <a:tc>
                  <a:txBody>
                    <a:bodyPr/>
                    <a:lstStyle/>
                    <a:p>
                      <a:r>
                        <a:rPr lang="en-US" dirty="0"/>
                        <a:t>Tidak </a:t>
                      </a:r>
                      <a:r>
                        <a:rPr lang="en-US" dirty="0" err="1"/>
                        <a:t>Merokok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922424"/>
                  </a:ext>
                </a:extLst>
              </a:tr>
              <a:tr h="33209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92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ampungan Konten 2">
                <a:extLst>
                  <a:ext uri="{FF2B5EF4-FFF2-40B4-BE49-F238E27FC236}">
                    <a16:creationId xmlns:a16="http://schemas.microsoft.com/office/drawing/2014/main" id="{FAA4A01C-9324-BAFC-0979-CC5BAFF89D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30584" y="1899992"/>
                <a:ext cx="2491410" cy="14859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84048" indent="-384048" algn="l" defTabSz="6858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𝑜𝑑𝑑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US" sz="1800" dirty="0"/>
              </a:p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𝑜𝑑𝑑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𝑜𝑑𝑑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𝑜𝑑𝑑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Tampungan Konten 2">
                <a:extLst>
                  <a:ext uri="{FF2B5EF4-FFF2-40B4-BE49-F238E27FC236}">
                    <a16:creationId xmlns:a16="http://schemas.microsoft.com/office/drawing/2014/main" id="{FAA4A01C-9324-BAFC-0979-CC5BAFF89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584" y="1899992"/>
                <a:ext cx="2491410" cy="1485900"/>
              </a:xfrm>
              <a:prstGeom prst="rect">
                <a:avLst/>
              </a:prstGeom>
              <a:blipFill>
                <a:blip r:embed="rId3"/>
                <a:stretch>
                  <a:fillRect l="-1711" t="-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ampungan Konten 2">
                <a:extLst>
                  <a:ext uri="{FF2B5EF4-FFF2-40B4-BE49-F238E27FC236}">
                    <a16:creationId xmlns:a16="http://schemas.microsoft.com/office/drawing/2014/main" id="{74E04513-EF98-CACA-C620-D08915BC96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2715" y="3181351"/>
                <a:ext cx="4129091" cy="331469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/>
              </a:bodyPr>
              <a:lstStyle>
                <a:lvl1pPr marL="384048" indent="-384048" algn="l" defTabSz="6858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Peluang </a:t>
                </a:r>
                <a:r>
                  <a:rPr lang="en-US" dirty="0" err="1"/>
                  <a:t>sakit</a:t>
                </a:r>
                <a:r>
                  <a:rPr lang="en-US" dirty="0"/>
                  <a:t> di masing-masing </a:t>
                </a:r>
                <a:r>
                  <a:rPr lang="en-US" dirty="0" err="1"/>
                  <a:t>kelompok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𝑝𝑒𝑟𝑜𝑘𝑜𝑘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𝑡𝑖𝑑𝑎𝑘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𝑝𝑒𝑟𝑜𝑘𝑜𝑘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ampungan Konten 2">
                <a:extLst>
                  <a:ext uri="{FF2B5EF4-FFF2-40B4-BE49-F238E27FC236}">
                    <a16:creationId xmlns:a16="http://schemas.microsoft.com/office/drawing/2014/main" id="{74E04513-EF98-CACA-C620-D08915BC9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715" y="3181351"/>
                <a:ext cx="4129091" cy="3314699"/>
              </a:xfrm>
              <a:prstGeom prst="rect">
                <a:avLst/>
              </a:prstGeom>
              <a:blipFill>
                <a:blip r:embed="rId4"/>
                <a:stretch>
                  <a:fillRect l="-1171" t="-1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Kotak Teks 8">
                <a:extLst>
                  <a:ext uri="{FF2B5EF4-FFF2-40B4-BE49-F238E27FC236}">
                    <a16:creationId xmlns:a16="http://schemas.microsoft.com/office/drawing/2014/main" id="{97863BA7-09DA-8AAB-F0F7-8E1D9B7E6BB0}"/>
                  </a:ext>
                </a:extLst>
              </p:cNvPr>
              <p:cNvSpPr txBox="1"/>
              <p:nvPr/>
            </p:nvSpPr>
            <p:spPr>
              <a:xfrm>
                <a:off x="4948006" y="3333751"/>
                <a:ext cx="4129091" cy="220951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dirty="0"/>
                  <a:t>Hitung odds di masing-masing </a:t>
                </a:r>
                <a:r>
                  <a:rPr lang="en-US" dirty="0" err="1"/>
                  <a:t>kelompok</a:t>
                </a:r>
                <a:endParaRPr lang="en-US" dirty="0"/>
              </a:p>
              <a:p>
                <a:r>
                  <a:rPr lang="en-US" dirty="0"/>
                  <a:t>Odd (</a:t>
                </a:r>
                <a:r>
                  <a:rPr lang="en-US" dirty="0" err="1"/>
                  <a:t>perokok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Odd (</a:t>
                </a:r>
                <a:r>
                  <a:rPr lang="en-US" dirty="0" err="1"/>
                  <a:t>tidak</a:t>
                </a:r>
                <a:r>
                  <a:rPr lang="en-US" dirty="0"/>
                  <a:t> </a:t>
                </a:r>
                <a:r>
                  <a:rPr lang="en-US" dirty="0" err="1"/>
                  <a:t>merokok</a:t>
                </a:r>
                <a:r>
                  <a:rPr lang="en-US" dirty="0"/>
                  <a:t>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Odd ratio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Kotak Teks 8">
                <a:extLst>
                  <a:ext uri="{FF2B5EF4-FFF2-40B4-BE49-F238E27FC236}">
                    <a16:creationId xmlns:a16="http://schemas.microsoft.com/office/drawing/2014/main" id="{97863BA7-09DA-8AAB-F0F7-8E1D9B7E6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8006" y="3333751"/>
                <a:ext cx="4129091" cy="2209516"/>
              </a:xfrm>
              <a:prstGeom prst="rect">
                <a:avLst/>
              </a:prstGeom>
              <a:blipFill>
                <a:blip r:embed="rId5"/>
                <a:stretch>
                  <a:fillRect l="-878" t="-815" r="-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54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8D30D3B-9722-C68E-E45E-917EB622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Fungsi</a:t>
            </a:r>
            <a:r>
              <a:rPr lang="en-US" dirty="0"/>
              <a:t> logit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mpungan Konten 2">
                <a:extLst>
                  <a:ext uri="{FF2B5EF4-FFF2-40B4-BE49-F238E27FC236}">
                    <a16:creationId xmlns:a16="http://schemas.microsoft.com/office/drawing/2014/main" id="{2EB552E5-70E0-1346-83D8-96350A6CD2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Logaritma natural </a:t>
                </a:r>
                <a:r>
                  <a:rPr lang="en-US" dirty="0" err="1"/>
                  <a:t>dari</a:t>
                </a:r>
                <a:r>
                  <a:rPr lang="en-US" dirty="0"/>
                  <a:t> odd = </a:t>
                </a:r>
                <a:r>
                  <a:rPr lang="en-US" dirty="0" err="1"/>
                  <a:t>fungsi</a:t>
                </a:r>
                <a:r>
                  <a:rPr lang="en-US" dirty="0"/>
                  <a:t> logit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 err="1"/>
                  <a:t>Fungsi</a:t>
                </a:r>
                <a:r>
                  <a:rPr lang="en-US" dirty="0"/>
                  <a:t> logit </a:t>
                </a:r>
                <a:r>
                  <a:rPr lang="en-US" dirty="0" err="1"/>
                  <a:t>harus</a:t>
                </a:r>
                <a:r>
                  <a:rPr lang="en-US" dirty="0"/>
                  <a:t> liner </a:t>
                </a:r>
                <a:r>
                  <a:rPr lang="en-US" dirty="0" err="1"/>
                  <a:t>terhadap</a:t>
                </a:r>
                <a:r>
                  <a:rPr lang="en-US" dirty="0"/>
                  <a:t> X (</a:t>
                </a:r>
                <a:r>
                  <a:rPr lang="en-US" dirty="0" err="1"/>
                  <a:t>asumsi</a:t>
                </a:r>
                <a:r>
                  <a:rPr lang="en-US" dirty="0"/>
                  <a:t> </a:t>
                </a:r>
                <a:r>
                  <a:rPr lang="en-US" dirty="0" err="1"/>
                  <a:t>regresi</a:t>
                </a:r>
                <a:r>
                  <a:rPr lang="en-US" dirty="0"/>
                  <a:t> logistic)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ampungan Konten 2">
                <a:extLst>
                  <a:ext uri="{FF2B5EF4-FFF2-40B4-BE49-F238E27FC236}">
                    <a16:creationId xmlns:a16="http://schemas.microsoft.com/office/drawing/2014/main" id="{2EB552E5-70E0-1346-83D8-96350A6CD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62" t="-1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5320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973" y="238539"/>
            <a:ext cx="7330285" cy="1055423"/>
          </a:xfrm>
        </p:spPr>
        <p:txBody>
          <a:bodyPr anchor="b">
            <a:normAutofit/>
          </a:bodyPr>
          <a:lstStyle/>
          <a:p>
            <a:r>
              <a:rPr lang="en-US" sz="4700" dirty="0" err="1"/>
              <a:t>Fungsi</a:t>
            </a:r>
            <a:r>
              <a:rPr lang="en-US" sz="4700" dirty="0"/>
              <a:t> Sigmoid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15965" y="2093975"/>
                <a:ext cx="5035164" cy="3699697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9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9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19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9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9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9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9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19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9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19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9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sz="1900" dirty="0"/>
              </a:p>
              <a:p>
                <a:pPr marL="0" indent="0">
                  <a:buNone/>
                </a:pPr>
                <a:r>
                  <a:rPr lang="en-US" sz="1900" dirty="0" err="1"/>
                  <a:t>dimana</a:t>
                </a:r>
                <a:endParaRPr lang="en-US" sz="1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00" b="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9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9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19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1900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19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19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1900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19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19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1900" b="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19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ar-AE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9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19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ar-AE" sz="1900" dirty="0"/>
              </a:p>
              <a:p>
                <a:r>
                  <a:rPr lang="en-US" sz="1900" dirty="0"/>
                  <a:t>Output </a:t>
                </a:r>
                <a:r>
                  <a:rPr lang="el-GR" sz="1900" dirty="0"/>
                  <a:t>σ(</a:t>
                </a:r>
                <a:r>
                  <a:rPr lang="en-US" sz="1900" dirty="0"/>
                  <a:t>z) ∈ (0,1) → </a:t>
                </a:r>
                <a:r>
                  <a:rPr lang="en-US" sz="1900" dirty="0" err="1"/>
                  <a:t>probabilitas</a:t>
                </a:r>
                <a:r>
                  <a:rPr lang="en-US" sz="1900" dirty="0"/>
                  <a:t> </a:t>
                </a:r>
                <a:r>
                  <a:rPr lang="en-US" sz="1900" dirty="0" err="1"/>
                  <a:t>kelas</a:t>
                </a:r>
                <a:r>
                  <a:rPr lang="en-US" sz="1900" dirty="0"/>
                  <a:t> </a:t>
                </a:r>
                <a:r>
                  <a:rPr lang="en-US" sz="1900" dirty="0" err="1"/>
                  <a:t>positif</a:t>
                </a:r>
                <a:endParaRPr lang="en-US" sz="1900" dirty="0"/>
              </a:p>
              <a:p>
                <a:r>
                  <a:rPr lang="en-US" sz="1900" dirty="0" err="1"/>
                  <a:t>Interpretasi</a:t>
                </a:r>
                <a:endParaRPr lang="en-US" sz="1900" dirty="0"/>
              </a:p>
              <a:p>
                <a:pPr marL="0" indent="0">
                  <a:buNone/>
                </a:pPr>
                <a:r>
                  <a:rPr lang="en-US" sz="1900" dirty="0"/>
                  <a:t>Jika </a:t>
                </a:r>
                <a:r>
                  <a:rPr lang="el-GR" sz="1900" dirty="0"/>
                  <a:t>σ(</a:t>
                </a:r>
                <a:r>
                  <a:rPr lang="en-US" sz="1900" dirty="0"/>
                  <a:t>z) &gt; 0.5 → </a:t>
                </a:r>
                <a:r>
                  <a:rPr lang="en-US" sz="1900" dirty="0" err="1"/>
                  <a:t>kelas</a:t>
                </a:r>
                <a:r>
                  <a:rPr lang="en-US" sz="1900" dirty="0"/>
                  <a:t> 1</a:t>
                </a:r>
              </a:p>
              <a:p>
                <a:pPr marL="0" indent="0">
                  <a:buNone/>
                </a:pPr>
                <a:r>
                  <a:rPr lang="en-US" sz="1900" dirty="0"/>
                  <a:t>Jika </a:t>
                </a:r>
                <a:r>
                  <a:rPr lang="el-GR" sz="1900" dirty="0"/>
                  <a:t>σ(</a:t>
                </a:r>
                <a:r>
                  <a:rPr lang="en-US" sz="1900" dirty="0"/>
                  <a:t>z) ≤ 0.5 → </a:t>
                </a:r>
                <a:r>
                  <a:rPr lang="en-US" sz="1900" dirty="0" err="1"/>
                  <a:t>kelas</a:t>
                </a:r>
                <a:r>
                  <a:rPr lang="en-US" sz="1900" dirty="0"/>
                  <a:t> 0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15965" y="2093975"/>
                <a:ext cx="5035164" cy="3699697"/>
              </a:xfrm>
              <a:blipFill>
                <a:blip r:embed="rId2"/>
                <a:stretch>
                  <a:fillRect l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ambar 4">
            <a:extLst>
              <a:ext uri="{FF2B5EF4-FFF2-40B4-BE49-F238E27FC236}">
                <a16:creationId xmlns:a16="http://schemas.microsoft.com/office/drawing/2014/main" id="{A2A95FCC-A912-95FE-6610-47DC12331D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05" r="17339" b="-3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Estimasi Parameter - 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Tidak </a:t>
                </a:r>
                <a:r>
                  <a:rPr lang="en-US" dirty="0" err="1"/>
                  <a:t>menggunakan</a:t>
                </a:r>
                <a:r>
                  <a:rPr lang="en-US" dirty="0"/>
                  <a:t> Least Squares.</a:t>
                </a:r>
              </a:p>
              <a:p>
                <a:r>
                  <a:rPr lang="en-US" dirty="0" err="1"/>
                  <a:t>Menggunakan</a:t>
                </a:r>
                <a:r>
                  <a:rPr lang="en-US" dirty="0"/>
                  <a:t> Maximum Likelihood Estimation (MLE):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Log-likelihood: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1" t="-1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A51B2FA-BD3F-9C74-0866-6CF4A7B76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ASUMSI</a:t>
            </a:r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00A9FE4D-8041-3506-B44E-682409DDC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088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222156A-E1BF-249C-A1DB-13C6C93EE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Asumsi</a:t>
            </a:r>
            <a:endParaRPr lang="en-US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CB39815-D0CA-2DFF-B05F-BFC4A9BF7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Hubungan</a:t>
            </a:r>
            <a:r>
              <a:rPr lang="en-US" dirty="0"/>
              <a:t> linier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logit dan variable independent</a:t>
            </a:r>
          </a:p>
          <a:p>
            <a:r>
              <a:rPr lang="en-US" dirty="0" err="1"/>
              <a:t>Setiap</a:t>
            </a:r>
            <a:r>
              <a:rPr lang="en-US" dirty="0"/>
              <a:t> variable independent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, </a:t>
            </a:r>
            <a:r>
              <a:rPr lang="en-US" dirty="0" err="1"/>
              <a:t>cocok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data cross sectional, </a:t>
            </a:r>
            <a:r>
              <a:rPr lang="en-US" dirty="0" err="1"/>
              <a:t>bukan</a:t>
            </a:r>
            <a:r>
              <a:rPr lang="en-US" dirty="0"/>
              <a:t> time series</a:t>
            </a:r>
          </a:p>
          <a:p>
            <a:r>
              <a:rPr lang="en-US" dirty="0"/>
              <a:t>Tidak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multikolineritas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variable X</a:t>
            </a:r>
          </a:p>
          <a:p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besar</a:t>
            </a:r>
            <a:endParaRPr lang="en-US" dirty="0"/>
          </a:p>
          <a:p>
            <a:r>
              <a:rPr lang="en-US" dirty="0"/>
              <a:t>Tidak </a:t>
            </a:r>
            <a:r>
              <a:rPr lang="en-US" dirty="0" err="1"/>
              <a:t>ada</a:t>
            </a:r>
            <a:r>
              <a:rPr lang="en-US" dirty="0"/>
              <a:t> outlier </a:t>
            </a:r>
            <a:r>
              <a:rPr lang="en-US" dirty="0" err="1"/>
              <a:t>ekstrim</a:t>
            </a:r>
            <a:endParaRPr lang="en-US" dirty="0"/>
          </a:p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dependen</a:t>
            </a:r>
            <a:r>
              <a:rPr lang="en-US" dirty="0"/>
              <a:t>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kategorik</a:t>
            </a:r>
            <a:r>
              <a:rPr lang="en-US" dirty="0"/>
              <a:t> biner</a:t>
            </a:r>
          </a:p>
        </p:txBody>
      </p:sp>
    </p:spTree>
    <p:extLst>
      <p:ext uri="{BB962C8B-B14F-4D97-AF65-F5344CB8AC3E}">
        <p14:creationId xmlns:p14="http://schemas.microsoft.com/office/powerpoint/2010/main" val="3816931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B6A824C-096D-EDFC-7FE3-BE0D2B99B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cek</a:t>
            </a:r>
            <a:r>
              <a:rPr lang="en-US" dirty="0"/>
              <a:t> </a:t>
            </a:r>
            <a:r>
              <a:rPr lang="en-US" dirty="0" err="1"/>
              <a:t>linieritas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mpungan Konten 2">
                <a:extLst>
                  <a:ext uri="{FF2B5EF4-FFF2-40B4-BE49-F238E27FC236}">
                    <a16:creationId xmlns:a16="http://schemas.microsoft.com/office/drawing/2014/main" id="{9BBEF894-C083-6876-AF31-E4C023932C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Buat model logistic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 err="1"/>
                  <a:t>Dapatkan</a:t>
                </a:r>
                <a:r>
                  <a:rPr lang="en-US" dirty="0"/>
                  <a:t> </a:t>
                </a:r>
                <a:r>
                  <a:rPr lang="en-US" dirty="0" err="1"/>
                  <a:t>probabilitas</a:t>
                </a:r>
                <a:r>
                  <a:rPr lang="en-US" dirty="0"/>
                  <a:t> </a:t>
                </a:r>
                <a:r>
                  <a:rPr lang="en-US" dirty="0" err="1"/>
                  <a:t>prediksi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 err="1"/>
                  <a:t>Hitung</a:t>
                </a:r>
                <a:r>
                  <a:rPr lang="en-US" dirty="0"/>
                  <a:t> logit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dirty="0" err="1"/>
                  <a:t>Buat</a:t>
                </a:r>
                <a:r>
                  <a:rPr lang="en-US" dirty="0"/>
                  <a:t> scatter plot </a:t>
                </a:r>
                <a:r>
                  <a:rPr lang="en-US" dirty="0" err="1"/>
                  <a:t>antara</a:t>
                </a:r>
                <a:r>
                  <a:rPr lang="en-US" dirty="0"/>
                  <a:t> logit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 dan </a:t>
                </a:r>
                <a:r>
                  <a:rPr lang="en-US" dirty="0" err="1"/>
                  <a:t>setiap</a:t>
                </a:r>
                <a:r>
                  <a:rPr lang="en-US" dirty="0"/>
                  <a:t> X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dirty="0" err="1"/>
                  <a:t>Tambahkan</a:t>
                </a:r>
                <a:r>
                  <a:rPr lang="en-US" dirty="0"/>
                  <a:t> garis </a:t>
                </a:r>
                <a:r>
                  <a:rPr lang="en-US" dirty="0" err="1"/>
                  <a:t>tren</a:t>
                </a:r>
                <a:r>
                  <a:rPr lang="en-US" dirty="0"/>
                  <a:t> (</a:t>
                </a:r>
                <a:r>
                  <a:rPr lang="en-US" dirty="0" err="1"/>
                  <a:t>regresi</a:t>
                </a:r>
                <a:r>
                  <a:rPr lang="en-US" dirty="0"/>
                  <a:t> linier)</a:t>
                </a:r>
              </a:p>
            </p:txBody>
          </p:sp>
        </mc:Choice>
        <mc:Fallback xmlns="">
          <p:sp>
            <p:nvSpPr>
              <p:cNvPr id="3" name="Tampungan Konten 2">
                <a:extLst>
                  <a:ext uri="{FF2B5EF4-FFF2-40B4-BE49-F238E27FC236}">
                    <a16:creationId xmlns:a16="http://schemas.microsoft.com/office/drawing/2014/main" id="{9BBEF894-C083-6876-AF31-E4C023932C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62" t="-1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696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86D93FF-866F-3ECE-3B17-3CF70752B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Masalah</a:t>
            </a:r>
            <a:endParaRPr lang="en-US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5F85EC99-E6D7-AB75-43D0-D5AD4825A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504950"/>
            <a:ext cx="7200900" cy="43624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Jika </a:t>
            </a:r>
            <a:r>
              <a:rPr lang="en-US" b="1" dirty="0" err="1"/>
              <a:t>hubungan</a:t>
            </a:r>
            <a:r>
              <a:rPr lang="en-US" b="1" dirty="0"/>
              <a:t> </a:t>
            </a:r>
            <a:r>
              <a:rPr lang="en-US" b="1" dirty="0" err="1"/>
              <a:t>antara</a:t>
            </a:r>
            <a:r>
              <a:rPr lang="en-US" b="1" dirty="0"/>
              <a:t> </a:t>
            </a:r>
            <a:r>
              <a:rPr lang="en-US" b="1" dirty="0" err="1"/>
              <a:t>fungsi</a:t>
            </a:r>
            <a:r>
              <a:rPr lang="en-US" b="1" dirty="0"/>
              <a:t> logit dan X </a:t>
            </a:r>
            <a:r>
              <a:rPr lang="en-US" b="1" dirty="0" err="1"/>
              <a:t>tidak</a:t>
            </a:r>
            <a:r>
              <a:rPr lang="en-US" b="1" dirty="0"/>
              <a:t> linier:</a:t>
            </a:r>
          </a:p>
          <a:p>
            <a:r>
              <a:rPr lang="en-US" dirty="0" err="1"/>
              <a:t>Menambah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polynomial (</a:t>
            </a:r>
            <a:r>
              <a:rPr lang="en-US" dirty="0" err="1"/>
              <a:t>misal</a:t>
            </a:r>
            <a:r>
              <a:rPr lang="en-US" dirty="0"/>
              <a:t>: x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tranformasi</a:t>
            </a:r>
            <a:r>
              <a:rPr lang="en-US" dirty="0"/>
              <a:t> (missal log x)</a:t>
            </a:r>
          </a:p>
          <a:p>
            <a:r>
              <a:rPr lang="en-US" dirty="0" err="1"/>
              <a:t>Menggunakan</a:t>
            </a:r>
            <a:r>
              <a:rPr lang="en-US" dirty="0"/>
              <a:t> model non linier (decision tree)</a:t>
            </a:r>
          </a:p>
          <a:p>
            <a:pPr marL="0" indent="0">
              <a:buNone/>
            </a:pPr>
            <a:r>
              <a:rPr lang="en-US" b="1" dirty="0"/>
              <a:t>Jika target </a:t>
            </a:r>
            <a:r>
              <a:rPr lang="en-US" b="1" dirty="0" err="1"/>
              <a:t>tidak</a:t>
            </a:r>
            <a:r>
              <a:rPr lang="en-US" b="1" dirty="0"/>
              <a:t> biner</a:t>
            </a:r>
          </a:p>
          <a:p>
            <a:r>
              <a:rPr lang="en-US" dirty="0" err="1"/>
              <a:t>Gunakan</a:t>
            </a:r>
            <a:r>
              <a:rPr lang="en-US" dirty="0"/>
              <a:t> multinomial logistic </a:t>
            </a:r>
            <a:r>
              <a:rPr lang="en-US" dirty="0" err="1"/>
              <a:t>regresi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softmax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Data time </a:t>
            </a:r>
            <a:r>
              <a:rPr lang="en-US" b="1" dirty="0" err="1"/>
              <a:t>seris</a:t>
            </a:r>
            <a:endParaRPr lang="en-US" b="1" dirty="0"/>
          </a:p>
          <a:p>
            <a:r>
              <a:rPr lang="en-US" dirty="0"/>
              <a:t>Ganti </a:t>
            </a:r>
            <a:r>
              <a:rPr lang="en-US" dirty="0" err="1"/>
              <a:t>algoritma</a:t>
            </a:r>
            <a:r>
              <a:rPr lang="en-US" dirty="0"/>
              <a:t>: ARIMA, LSTM</a:t>
            </a:r>
          </a:p>
          <a:p>
            <a:pPr marL="0" indent="0">
              <a:buNone/>
            </a:pPr>
            <a:r>
              <a:rPr lang="en-US" b="1" dirty="0"/>
              <a:t>Data </a:t>
            </a:r>
            <a:r>
              <a:rPr lang="en-US" b="1" dirty="0" err="1"/>
              <a:t>sedikit</a:t>
            </a:r>
            <a:endParaRPr lang="en-US" b="1" dirty="0"/>
          </a:p>
          <a:p>
            <a:r>
              <a:rPr lang="en-US" dirty="0"/>
              <a:t>Oversampling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regularisasi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Bayesian 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1434846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7D49616-7B2D-499E-F8AE-C924B0D44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Masalah</a:t>
            </a:r>
            <a:endParaRPr lang="en-US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BBCE228A-9990-1892-16E2-E7C375F4B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Variabel</a:t>
            </a:r>
            <a:r>
              <a:rPr lang="en-US" b="1" dirty="0"/>
              <a:t> </a:t>
            </a:r>
            <a:r>
              <a:rPr lang="en-US" b="1" dirty="0" err="1"/>
              <a:t>bebas</a:t>
            </a:r>
            <a:r>
              <a:rPr lang="en-US" b="1" dirty="0"/>
              <a:t> </a:t>
            </a:r>
            <a:r>
              <a:rPr lang="en-US" b="1" dirty="0" err="1"/>
              <a:t>saling</a:t>
            </a:r>
            <a:r>
              <a:rPr lang="en-US" b="1" dirty="0"/>
              <a:t> </a:t>
            </a:r>
            <a:r>
              <a:rPr lang="en-US" b="1" dirty="0" err="1"/>
              <a:t>berkorelasi</a:t>
            </a:r>
            <a:r>
              <a:rPr lang="en-US" b="1" dirty="0"/>
              <a:t> </a:t>
            </a:r>
            <a:r>
              <a:rPr lang="en-US" b="1" dirty="0" err="1"/>
              <a:t>tinggi</a:t>
            </a:r>
            <a:endParaRPr lang="en-US" b="1" dirty="0"/>
          </a:p>
          <a:p>
            <a:r>
              <a:rPr lang="en-US" dirty="0" err="1"/>
              <a:t>Gunakan</a:t>
            </a:r>
            <a:r>
              <a:rPr lang="en-US" dirty="0"/>
              <a:t> PCA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hilangkan</a:t>
            </a:r>
            <a:r>
              <a:rPr lang="en-US" dirty="0"/>
              <a:t> variable yang </a:t>
            </a:r>
            <a:r>
              <a:rPr lang="en-US" dirty="0" err="1"/>
              <a:t>redundan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Nilai outlier </a:t>
            </a:r>
            <a:r>
              <a:rPr lang="en-US" b="1" dirty="0" err="1"/>
              <a:t>ekstrem</a:t>
            </a:r>
            <a:endParaRPr lang="en-US" b="1" dirty="0"/>
          </a:p>
          <a:p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robust logistic regression</a:t>
            </a:r>
          </a:p>
          <a:p>
            <a:r>
              <a:rPr lang="en-US" dirty="0" err="1"/>
              <a:t>Transformasi</a:t>
            </a:r>
            <a:r>
              <a:rPr lang="en-US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086703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8C78A6B-A995-B758-FB75-36A8387F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Keuntungan</a:t>
            </a:r>
            <a:r>
              <a:rPr lang="en-US" dirty="0"/>
              <a:t> dan </a:t>
            </a:r>
            <a:r>
              <a:rPr lang="en-US" dirty="0" err="1"/>
              <a:t>kerugian</a:t>
            </a:r>
            <a:endParaRPr lang="en-US" dirty="0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3DBF68A7-54A3-1567-1E7B-F176C68A3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198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Kelebihan &amp; Kekurangan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 err="1"/>
              <a:t>Kelebihan</a:t>
            </a:r>
            <a:r>
              <a:rPr dirty="0"/>
              <a:t>:</a:t>
            </a:r>
          </a:p>
          <a:p>
            <a:r>
              <a:rPr dirty="0" err="1"/>
              <a:t>Interpretasi</a:t>
            </a:r>
            <a:r>
              <a:rPr dirty="0"/>
              <a:t> </a:t>
            </a:r>
            <a:r>
              <a:rPr dirty="0" err="1"/>
              <a:t>sederhana</a:t>
            </a:r>
            <a:endParaRPr dirty="0"/>
          </a:p>
          <a:p>
            <a:r>
              <a:rPr dirty="0" err="1"/>
              <a:t>Cepat</a:t>
            </a:r>
            <a:r>
              <a:rPr dirty="0"/>
              <a:t> dan </a:t>
            </a:r>
            <a:r>
              <a:rPr dirty="0" err="1"/>
              <a:t>stabil</a:t>
            </a:r>
            <a:endParaRPr dirty="0"/>
          </a:p>
          <a:p>
            <a:r>
              <a:rPr dirty="0" err="1"/>
              <a:t>Probabilistik</a:t>
            </a:r>
            <a:r>
              <a:rPr dirty="0"/>
              <a:t> (output = </a:t>
            </a:r>
            <a:r>
              <a:rPr dirty="0" err="1"/>
              <a:t>probabilitas</a:t>
            </a:r>
            <a:r>
              <a:rPr dirty="0"/>
              <a:t>)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Kekurangan</a:t>
            </a:r>
            <a:r>
              <a:rPr dirty="0"/>
              <a:t>:</a:t>
            </a:r>
          </a:p>
          <a:p>
            <a:r>
              <a:rPr dirty="0"/>
              <a:t>Tidak </a:t>
            </a:r>
            <a:r>
              <a:rPr dirty="0" err="1"/>
              <a:t>cocok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hubungan</a:t>
            </a:r>
            <a:r>
              <a:rPr dirty="0"/>
              <a:t> non-linear </a:t>
            </a:r>
            <a:r>
              <a:rPr dirty="0" err="1"/>
              <a:t>kompleks</a:t>
            </a:r>
            <a:endParaRPr dirty="0"/>
          </a:p>
          <a:p>
            <a:r>
              <a:rPr dirty="0" err="1"/>
              <a:t>Sensitif</a:t>
            </a:r>
            <a:r>
              <a:rPr dirty="0"/>
              <a:t> </a:t>
            </a:r>
            <a:r>
              <a:rPr dirty="0" err="1"/>
              <a:t>terhadap</a:t>
            </a:r>
            <a:r>
              <a:rPr dirty="0"/>
              <a:t> outlier</a:t>
            </a:r>
          </a:p>
          <a:p>
            <a:r>
              <a:rPr dirty="0"/>
              <a:t>Performa </a:t>
            </a:r>
            <a:r>
              <a:rPr dirty="0" err="1"/>
              <a:t>turun</a:t>
            </a:r>
            <a:r>
              <a:rPr dirty="0"/>
              <a:t> </a:t>
            </a:r>
            <a:r>
              <a:rPr dirty="0" err="1"/>
              <a:t>jika</a:t>
            </a:r>
            <a:r>
              <a:rPr dirty="0"/>
              <a:t> </a:t>
            </a:r>
            <a:r>
              <a:rPr dirty="0" err="1"/>
              <a:t>banyak</a:t>
            </a:r>
            <a:r>
              <a:rPr dirty="0"/>
              <a:t> </a:t>
            </a:r>
            <a:r>
              <a:rPr dirty="0" err="1"/>
              <a:t>fitur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relevan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06BE6A3-009A-3D57-28C5-76F68B2E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Evaluasi</a:t>
            </a:r>
            <a:endParaRPr lang="en-US" dirty="0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C775B0E4-827E-A0E9-37C6-9674005C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76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Evaluasi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Metrik </a:t>
            </a:r>
            <a:r>
              <a:rPr dirty="0" err="1"/>
              <a:t>Klasifikasi</a:t>
            </a:r>
            <a:r>
              <a:rPr dirty="0"/>
              <a:t>:</a:t>
            </a:r>
          </a:p>
          <a:p>
            <a:r>
              <a:rPr dirty="0" err="1"/>
              <a:t>Akurasi</a:t>
            </a:r>
            <a:r>
              <a:rPr dirty="0"/>
              <a:t> = (TP + TN) / total</a:t>
            </a:r>
          </a:p>
          <a:p>
            <a:r>
              <a:rPr dirty="0" err="1"/>
              <a:t>Presisi</a:t>
            </a:r>
            <a:r>
              <a:rPr dirty="0"/>
              <a:t> = TP / (TP + FP)</a:t>
            </a:r>
          </a:p>
          <a:p>
            <a:r>
              <a:rPr dirty="0"/>
              <a:t>Recall = TP / (TP + FN)</a:t>
            </a:r>
          </a:p>
          <a:p>
            <a:r>
              <a:rPr dirty="0"/>
              <a:t>F1-score = 2 × (</a:t>
            </a:r>
            <a:r>
              <a:rPr dirty="0" err="1"/>
              <a:t>Presisi</a:t>
            </a:r>
            <a:r>
              <a:rPr dirty="0"/>
              <a:t> × Recall) / (</a:t>
            </a:r>
            <a:r>
              <a:rPr dirty="0" err="1"/>
              <a:t>Presisi</a:t>
            </a:r>
            <a:r>
              <a:rPr dirty="0"/>
              <a:t> + Recall)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4B18DBA8-2425-9269-B324-8B5252BB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Psedo</a:t>
            </a:r>
            <a:endParaRPr lang="en-US" dirty="0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4F6C5B69-4EED-4BFE-3907-051A9AEAA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64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F697E51-AB5E-C17F-CFEF-CC55F72848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7334" y="552451"/>
                <a:ext cx="8180916" cy="548891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84048" indent="-384048" algn="l" defTabSz="6858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6858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+mj-lt"/>
                  <a:buAutoNum type="arabicPeriod"/>
                </a:pPr>
                <a:r>
                  <a:rPr lang="en-US" dirty="0"/>
                  <a:t>Siapkan </a:t>
                </a:r>
                <a:r>
                  <a:rPr lang="en-US" dirty="0" err="1"/>
                  <a:t>inputannya</a:t>
                </a:r>
                <a:r>
                  <a:rPr lang="en-US" dirty="0"/>
                  <a:t>, </a:t>
                </a:r>
                <a:r>
                  <a:rPr lang="en-US" dirty="0" err="1"/>
                  <a:t>inputan</a:t>
                </a:r>
                <a:r>
                  <a:rPr lang="en-US" dirty="0"/>
                  <a:t> </a:t>
                </a:r>
                <a:r>
                  <a:rPr lang="en-US" dirty="0" err="1"/>
                  <a:t>metode</a:t>
                </a:r>
                <a:r>
                  <a:rPr lang="en-US" dirty="0"/>
                  <a:t> </a:t>
                </a:r>
                <a:r>
                  <a:rPr lang="en-US" dirty="0" err="1"/>
                  <a:t>ini</a:t>
                </a:r>
                <a:r>
                  <a:rPr lang="en-US" dirty="0"/>
                  <a:t> </a:t>
                </a:r>
                <a:r>
                  <a:rPr lang="en-US" dirty="0" err="1"/>
                  <a:t>berupa</a:t>
                </a:r>
                <a:r>
                  <a:rPr lang="en-US" dirty="0"/>
                  <a:t> vector,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bobot</a:t>
                </a:r>
                <a:r>
                  <a:rPr lang="en-US" dirty="0"/>
                  <a:t> </a:t>
                </a:r>
                <a:r>
                  <a:rPr lang="en-US" dirty="0" err="1"/>
                  <a:t>awal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 dan bias </a:t>
                </a:r>
                <a:r>
                  <a:rPr lang="en-US" dirty="0" err="1"/>
                  <a:t>awal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, learning rate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 err="1"/>
                  <a:t>Hitung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 err="1"/>
                  <a:t>Tentukan</a:t>
                </a:r>
                <a:r>
                  <a:rPr lang="en-US" dirty="0"/>
                  <a:t> </a:t>
                </a:r>
                <a:r>
                  <a:rPr lang="en-US" dirty="0" err="1"/>
                  <a:t>peluang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-&gt; Sigmoid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𝑑𝑎𝑛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Font typeface="Franklin Gothic Book" panose="020B0503020102020204" pitchFamily="34" charset="0"/>
                  <a:buNone/>
                </a:pPr>
                <a:r>
                  <a:rPr lang="en-US" dirty="0"/>
                  <a:t>Dimana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>
                  <a:buFont typeface="+mj-lt"/>
                  <a:buAutoNum type="arabicPeriod" startAt="4"/>
                </a:pPr>
                <a:r>
                  <a:rPr lang="en-US" dirty="0" err="1"/>
                  <a:t>Tentukan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:r>
                  <a:rPr lang="en-US" dirty="0" err="1"/>
                  <a:t>fungsi</a:t>
                </a:r>
                <a:r>
                  <a:rPr lang="en-US" dirty="0"/>
                  <a:t> </a:t>
                </a:r>
                <a:r>
                  <a:rPr lang="en-US" dirty="0" err="1"/>
                  <a:t>objektifnya</a:t>
                </a:r>
                <a:r>
                  <a:rPr lang="en-US" dirty="0"/>
                  <a:t> -&gt; cross-entropy loss function</a:t>
                </a:r>
              </a:p>
              <a:p>
                <a:pPr marL="0" indent="0">
                  <a:buFont typeface="Franklin Gothic Book" panose="020B05030201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Font typeface="Franklin Gothic Book" panose="020B0503020102020204" pitchFamily="34" charset="0"/>
                  <a:buNone/>
                </a:pPr>
                <a:r>
                  <a:rPr lang="en-US" dirty="0"/>
                  <a:t>Dimana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kelas</a:t>
                </a:r>
                <a:r>
                  <a:rPr lang="en-US" dirty="0"/>
                  <a:t> </a:t>
                </a:r>
                <a:r>
                  <a:rPr lang="en-US" dirty="0" err="1"/>
                  <a:t>sebenarnya</a:t>
                </a:r>
                <a:endParaRPr lang="en-US" dirty="0"/>
              </a:p>
              <a:p>
                <a:pPr>
                  <a:buFont typeface="+mj-lt"/>
                  <a:buAutoNum type="arabicPeriod" startAt="5"/>
                </a:pPr>
                <a:r>
                  <a:rPr lang="en-US" dirty="0" err="1"/>
                  <a:t>Optimasi</a:t>
                </a:r>
                <a:r>
                  <a:rPr lang="en-US" dirty="0"/>
                  <a:t> </a:t>
                </a:r>
                <a:r>
                  <a:rPr lang="en-US" dirty="0" err="1"/>
                  <a:t>fungsi</a:t>
                </a:r>
                <a:r>
                  <a:rPr lang="en-US" dirty="0"/>
                  <a:t> </a:t>
                </a:r>
                <a:r>
                  <a:rPr lang="en-US" dirty="0" err="1"/>
                  <a:t>objektif</a:t>
                </a:r>
                <a:r>
                  <a:rPr lang="en-US" dirty="0"/>
                  <a:t> -&gt;</a:t>
                </a:r>
                <a:r>
                  <a:rPr lang="en-US" dirty="0" err="1"/>
                  <a:t>gradien</a:t>
                </a:r>
                <a:r>
                  <a:rPr lang="en-US" dirty="0"/>
                  <a:t> descent</a:t>
                </a:r>
              </a:p>
              <a:p>
                <a:pPr marL="0" indent="0">
                  <a:buFont typeface="Franklin Gothic Book" panose="020B0503020102020204" pitchFamily="34" charset="0"/>
                  <a:buNone/>
                </a:pPr>
                <a:r>
                  <a:rPr lang="en-US" dirty="0"/>
                  <a:t>Update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0" indent="0">
                  <a:buFont typeface="Franklin Gothic Book" panose="020B0503020102020204" pitchFamily="34" charset="0"/>
                  <a:buNone/>
                </a:pPr>
                <a:r>
                  <a:rPr lang="en-US" dirty="0"/>
                  <a:t>https://web.stanford.edu/~jurafsky/slp3/5.pdf</a:t>
                </a: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BF697E51-AB5E-C17F-CFEF-CC55F7284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34" y="552451"/>
                <a:ext cx="8180916" cy="5488912"/>
              </a:xfrm>
              <a:prstGeom prst="rect">
                <a:avLst/>
              </a:prstGeom>
              <a:blipFill>
                <a:blip r:embed="rId2"/>
                <a:stretch>
                  <a:fillRect l="-745" t="-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7087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49A4E-229E-4EB6-B16B-C59E02C1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23754D9-E554-41BC-B4B0-5F02AF3635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985234"/>
              </p:ext>
            </p:extLst>
          </p:nvPr>
        </p:nvGraphicFramePr>
        <p:xfrm>
          <a:off x="1257300" y="1597664"/>
          <a:ext cx="3943352" cy="2378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838">
                  <a:extLst>
                    <a:ext uri="{9D8B030D-6E8A-4147-A177-3AD203B41FA5}">
                      <a16:colId xmlns:a16="http://schemas.microsoft.com/office/drawing/2014/main" val="2471174494"/>
                    </a:ext>
                  </a:extLst>
                </a:gridCol>
                <a:gridCol w="985838">
                  <a:extLst>
                    <a:ext uri="{9D8B030D-6E8A-4147-A177-3AD203B41FA5}">
                      <a16:colId xmlns:a16="http://schemas.microsoft.com/office/drawing/2014/main" val="610624906"/>
                    </a:ext>
                  </a:extLst>
                </a:gridCol>
                <a:gridCol w="985838">
                  <a:extLst>
                    <a:ext uri="{9D8B030D-6E8A-4147-A177-3AD203B41FA5}">
                      <a16:colId xmlns:a16="http://schemas.microsoft.com/office/drawing/2014/main" val="3874357105"/>
                    </a:ext>
                  </a:extLst>
                </a:gridCol>
                <a:gridCol w="985838">
                  <a:extLst>
                    <a:ext uri="{9D8B030D-6E8A-4147-A177-3AD203B41FA5}">
                      <a16:colId xmlns:a16="http://schemas.microsoft.com/office/drawing/2014/main" val="2732078606"/>
                    </a:ext>
                  </a:extLst>
                </a:gridCol>
              </a:tblGrid>
              <a:tr h="475774">
                <a:tc>
                  <a:txBody>
                    <a:bodyPr/>
                    <a:lstStyle/>
                    <a:p>
                      <a:r>
                        <a:rPr lang="en-US" sz="2000" dirty="0"/>
                        <a:t>i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yi</a:t>
                      </a:r>
                      <a:endParaRPr lang="en-US" sz="2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67018096"/>
                  </a:ext>
                </a:extLst>
              </a:tr>
              <a:tr h="475774"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75843370"/>
                  </a:ext>
                </a:extLst>
              </a:tr>
              <a:tr h="475774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56376761"/>
                  </a:ext>
                </a:extLst>
              </a:tr>
              <a:tr h="475774"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23628419"/>
                  </a:ext>
                </a:extLst>
              </a:tr>
              <a:tr h="475774"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890864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2C51B7-D42F-43BA-A3D4-12E0E0246622}"/>
                  </a:ext>
                </a:extLst>
              </p:cNvPr>
              <p:cNvSpPr txBox="1"/>
              <p:nvPr/>
            </p:nvSpPr>
            <p:spPr>
              <a:xfrm>
                <a:off x="1257300" y="4302920"/>
                <a:ext cx="802005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Jika f1 = 1 dan f2= 2,lakukan update </a:t>
                </a:r>
                <a:r>
                  <a:rPr lang="en-US" sz="2000" dirty="0" err="1"/>
                  <a:t>bobot</a:t>
                </a:r>
                <a:r>
                  <a:rPr lang="en-US" sz="2000" dirty="0"/>
                  <a:t> 1 kali </a:t>
                </a:r>
                <a:r>
                  <a:rPr lang="en-US" sz="2000" dirty="0" err="1"/>
                  <a:t>dimana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bobot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awal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0.9,−0.1</m:t>
                        </m:r>
                      </m:e>
                    </m:d>
                  </m:oMath>
                </a14:m>
                <a:r>
                  <a:rPr lang="en-US" sz="2000" dirty="0"/>
                  <a:t> dan b = 0.1 dan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sz="2000" dirty="0"/>
                  <a:t> (</a:t>
                </a:r>
                <a:r>
                  <a:rPr lang="en-US" sz="2000" dirty="0" err="1"/>
                  <a:t>ditentukan</a:t>
                </a:r>
                <a:r>
                  <a:rPr lang="en-US" sz="2000" dirty="0"/>
                  <a:t> oleh </a:t>
                </a:r>
                <a:r>
                  <a:rPr lang="en-US" sz="2000" dirty="0" err="1"/>
                  <a:t>peneliti</a:t>
                </a:r>
                <a:r>
                  <a:rPr lang="en-US" sz="2000" dirty="0"/>
                  <a:t>), </a:t>
                </a:r>
                <a:r>
                  <a:rPr lang="en-US" sz="2000" dirty="0" err="1"/>
                  <a:t>tentukan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yi</a:t>
                </a:r>
                <a:r>
                  <a:rPr lang="en-US" sz="2000" dirty="0"/>
                  <a:t> = ?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2C51B7-D42F-43BA-A3D4-12E0E0246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300" y="4302920"/>
                <a:ext cx="8020050" cy="1015663"/>
              </a:xfrm>
              <a:prstGeom prst="rect">
                <a:avLst/>
              </a:prstGeom>
              <a:blipFill>
                <a:blip r:embed="rId2"/>
                <a:stretch>
                  <a:fillRect l="-760" t="-3614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764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0051E-F261-F384-7DB4-214847B73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B0AA5-C3C4-2CD8-40C4-469DB9A4F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381000"/>
            <a:ext cx="7200900" cy="914400"/>
          </a:xfrm>
        </p:spPr>
        <p:txBody>
          <a:bodyPr/>
          <a:lstStyle/>
          <a:p>
            <a:r>
              <a:rPr lang="en-US" dirty="0" err="1"/>
              <a:t>Jawaban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Kotak Teks 5">
                <a:extLst>
                  <a:ext uri="{FF2B5EF4-FFF2-40B4-BE49-F238E27FC236}">
                    <a16:creationId xmlns:a16="http://schemas.microsoft.com/office/drawing/2014/main" id="{2913BA57-E156-0558-C3B8-1DA9B6EE1654}"/>
                  </a:ext>
                </a:extLst>
              </p:cNvPr>
              <p:cNvSpPr txBox="1"/>
              <p:nvPr/>
            </p:nvSpPr>
            <p:spPr>
              <a:xfrm>
                <a:off x="5886450" y="2656795"/>
                <a:ext cx="2343150" cy="932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Kotak Teks 5">
                <a:extLst>
                  <a:ext uri="{FF2B5EF4-FFF2-40B4-BE49-F238E27FC236}">
                    <a16:creationId xmlns:a16="http://schemas.microsoft.com/office/drawing/2014/main" id="{2913BA57-E156-0558-C3B8-1DA9B6EE1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50" y="2656795"/>
                <a:ext cx="2343150" cy="9326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Kotak Teks 11">
                <a:extLst>
                  <a:ext uri="{FF2B5EF4-FFF2-40B4-BE49-F238E27FC236}">
                    <a16:creationId xmlns:a16="http://schemas.microsoft.com/office/drawing/2014/main" id="{DA7F2FB2-CBB5-A1A3-7889-148CA74BD7D6}"/>
                  </a:ext>
                </a:extLst>
              </p:cNvPr>
              <p:cNvSpPr txBox="1"/>
              <p:nvPr/>
            </p:nvSpPr>
            <p:spPr>
              <a:xfrm>
                <a:off x="5734050" y="3779511"/>
                <a:ext cx="2114550" cy="675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Kotak Teks 11">
                <a:extLst>
                  <a:ext uri="{FF2B5EF4-FFF2-40B4-BE49-F238E27FC236}">
                    <a16:creationId xmlns:a16="http://schemas.microsoft.com/office/drawing/2014/main" id="{DA7F2FB2-CBB5-A1A3-7889-148CA74BD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050" y="3779511"/>
                <a:ext cx="2114550" cy="6756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Kotak Teks 14">
                <a:extLst>
                  <a:ext uri="{FF2B5EF4-FFF2-40B4-BE49-F238E27FC236}">
                    <a16:creationId xmlns:a16="http://schemas.microsoft.com/office/drawing/2014/main" id="{CE45F8BB-1F75-7E5C-0918-A3DA16678704}"/>
                  </a:ext>
                </a:extLst>
              </p:cNvPr>
              <p:cNvSpPr txBox="1"/>
              <p:nvPr/>
            </p:nvSpPr>
            <p:spPr>
              <a:xfrm>
                <a:off x="1162050" y="1429629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800" dirty="0"/>
                  <a:t> dan b = 0.1 dan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5" name="Kotak Teks 14">
                <a:extLst>
                  <a:ext uri="{FF2B5EF4-FFF2-40B4-BE49-F238E27FC236}">
                    <a16:creationId xmlns:a16="http://schemas.microsoft.com/office/drawing/2014/main" id="{CE45F8BB-1F75-7E5C-0918-A3DA16678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050" y="1429629"/>
                <a:ext cx="4572000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D65574-9EB7-D688-8483-60C9B6B91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203980"/>
              </p:ext>
            </p:extLst>
          </p:nvPr>
        </p:nvGraphicFramePr>
        <p:xfrm>
          <a:off x="1066287" y="2152177"/>
          <a:ext cx="4382528" cy="2553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5632">
                  <a:extLst>
                    <a:ext uri="{9D8B030D-6E8A-4147-A177-3AD203B41FA5}">
                      <a16:colId xmlns:a16="http://schemas.microsoft.com/office/drawing/2014/main" val="294487119"/>
                    </a:ext>
                  </a:extLst>
                </a:gridCol>
                <a:gridCol w="1095632">
                  <a:extLst>
                    <a:ext uri="{9D8B030D-6E8A-4147-A177-3AD203B41FA5}">
                      <a16:colId xmlns:a16="http://schemas.microsoft.com/office/drawing/2014/main" val="1457994399"/>
                    </a:ext>
                  </a:extLst>
                </a:gridCol>
                <a:gridCol w="1095632">
                  <a:extLst>
                    <a:ext uri="{9D8B030D-6E8A-4147-A177-3AD203B41FA5}">
                      <a16:colId xmlns:a16="http://schemas.microsoft.com/office/drawing/2014/main" val="1364688186"/>
                    </a:ext>
                  </a:extLst>
                </a:gridCol>
                <a:gridCol w="1095632">
                  <a:extLst>
                    <a:ext uri="{9D8B030D-6E8A-4147-A177-3AD203B41FA5}">
                      <a16:colId xmlns:a16="http://schemas.microsoft.com/office/drawing/2014/main" val="4060812889"/>
                    </a:ext>
                  </a:extLst>
                </a:gridCol>
              </a:tblGrid>
              <a:tr h="2878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f1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f2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z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sigma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34469157"/>
                  </a:ext>
                </a:extLst>
              </a:tr>
              <a:tr h="5664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0.9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0.71095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4197056"/>
                  </a:ext>
                </a:extLst>
              </a:tr>
              <a:tr h="5664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-0.9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0.28905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52305178"/>
                  </a:ext>
                </a:extLst>
              </a:tr>
              <a:tr h="5664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1.1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0.75026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19301818"/>
                  </a:ext>
                </a:extLst>
              </a:tr>
              <a:tr h="5664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-0.7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0.331812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99112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050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843A-AE5D-4532-AEF2-9EB0CB94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381000"/>
            <a:ext cx="7200900" cy="914400"/>
          </a:xfrm>
        </p:spPr>
        <p:txBody>
          <a:bodyPr/>
          <a:lstStyle/>
          <a:p>
            <a:r>
              <a:rPr lang="en-US" dirty="0" err="1"/>
              <a:t>Jawaban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Kotak Teks 7">
                <a:extLst>
                  <a:ext uri="{FF2B5EF4-FFF2-40B4-BE49-F238E27FC236}">
                    <a16:creationId xmlns:a16="http://schemas.microsoft.com/office/drawing/2014/main" id="{4FB12074-3FD9-FB15-8A4B-3B0A9913F3CE}"/>
                  </a:ext>
                </a:extLst>
              </p:cNvPr>
              <p:cNvSpPr txBox="1"/>
              <p:nvPr/>
            </p:nvSpPr>
            <p:spPr>
              <a:xfrm>
                <a:off x="1162050" y="4325664"/>
                <a:ext cx="457200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Kotak Teks 7">
                <a:extLst>
                  <a:ext uri="{FF2B5EF4-FFF2-40B4-BE49-F238E27FC236}">
                    <a16:creationId xmlns:a16="http://schemas.microsoft.com/office/drawing/2014/main" id="{4FB12074-3FD9-FB15-8A4B-3B0A9913F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050" y="4325664"/>
                <a:ext cx="4572000" cy="404983"/>
              </a:xfrm>
              <a:prstGeom prst="rect">
                <a:avLst/>
              </a:prstGeom>
              <a:blipFill>
                <a:blip r:embed="rId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Kotak Teks 14">
                <a:extLst>
                  <a:ext uri="{FF2B5EF4-FFF2-40B4-BE49-F238E27FC236}">
                    <a16:creationId xmlns:a16="http://schemas.microsoft.com/office/drawing/2014/main" id="{0F6E124F-DD67-1B87-CD23-29DFF6D82E5C}"/>
                  </a:ext>
                </a:extLst>
              </p:cNvPr>
              <p:cNvSpPr txBox="1"/>
              <p:nvPr/>
            </p:nvSpPr>
            <p:spPr>
              <a:xfrm>
                <a:off x="1162050" y="1429629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0.9,−0.1</m:t>
                        </m:r>
                      </m:e>
                    </m:d>
                  </m:oMath>
                </a14:m>
                <a:r>
                  <a:rPr lang="en-US" sz="1800" dirty="0"/>
                  <a:t> dan b = 0.1 dan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sz="1800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5" name="Kotak Teks 14">
                <a:extLst>
                  <a:ext uri="{FF2B5EF4-FFF2-40B4-BE49-F238E27FC236}">
                    <a16:creationId xmlns:a16="http://schemas.microsoft.com/office/drawing/2014/main" id="{0F6E124F-DD67-1B87-CD23-29DFF6D82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050" y="1429629"/>
                <a:ext cx="4572000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Kotak Teks 17">
                <a:extLst>
                  <a:ext uri="{FF2B5EF4-FFF2-40B4-BE49-F238E27FC236}">
                    <a16:creationId xmlns:a16="http://schemas.microsoft.com/office/drawing/2014/main" id="{944CC77B-579F-9315-DB12-59BBD6EE1F9A}"/>
                  </a:ext>
                </a:extLst>
              </p:cNvPr>
              <p:cNvSpPr txBox="1"/>
              <p:nvPr/>
            </p:nvSpPr>
            <p:spPr>
              <a:xfrm>
                <a:off x="1162050" y="4829225"/>
                <a:ext cx="5486400" cy="871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Kotak Teks 17">
                <a:extLst>
                  <a:ext uri="{FF2B5EF4-FFF2-40B4-BE49-F238E27FC236}">
                    <a16:creationId xmlns:a16="http://schemas.microsoft.com/office/drawing/2014/main" id="{944CC77B-579F-9315-DB12-59BBD6EE1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050" y="4829225"/>
                <a:ext cx="5486400" cy="8712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F13D68-8D5F-1085-4F22-3BB8D60F4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404108"/>
              </p:ext>
            </p:extLst>
          </p:nvPr>
        </p:nvGraphicFramePr>
        <p:xfrm>
          <a:off x="1334529" y="2028775"/>
          <a:ext cx="5486400" cy="19168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642102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73448404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22216935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4144258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11656258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938663019"/>
                    </a:ext>
                  </a:extLst>
                </a:gridCol>
              </a:tblGrid>
              <a:tr h="1409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f1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f2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z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sigma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65519413"/>
                  </a:ext>
                </a:extLst>
              </a:tr>
              <a:tr h="27757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0.71095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0.148161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9995559"/>
                  </a:ext>
                </a:extLst>
              </a:tr>
              <a:tr h="27757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-1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-0.9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0.28905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0.148161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34014704"/>
                  </a:ext>
                </a:extLst>
              </a:tr>
              <a:tr h="27757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-1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0.75026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0.602512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21815471"/>
                  </a:ext>
                </a:extLst>
              </a:tr>
              <a:tr h="27757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-1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-1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-0.7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0.331812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0.175101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39666069"/>
                  </a:ext>
                </a:extLst>
              </a:tr>
              <a:tr h="2775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Total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1.073936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18829995"/>
                  </a:ext>
                </a:extLst>
              </a:tr>
              <a:tr h="2775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J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0.268484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63521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787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0A476-3FCB-D8D6-9B28-CE6EA0C3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EBB68-F077-3E33-198A-29EC6EA1E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381000"/>
            <a:ext cx="7200900" cy="914400"/>
          </a:xfrm>
        </p:spPr>
        <p:txBody>
          <a:bodyPr/>
          <a:lstStyle/>
          <a:p>
            <a:r>
              <a:rPr lang="en-US" dirty="0" err="1"/>
              <a:t>Jawaban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Kotak Teks 8">
                <a:extLst>
                  <a:ext uri="{FF2B5EF4-FFF2-40B4-BE49-F238E27FC236}">
                    <a16:creationId xmlns:a16="http://schemas.microsoft.com/office/drawing/2014/main" id="{24440E68-E49B-58AB-6D26-81BADB0A6E13}"/>
                  </a:ext>
                </a:extLst>
              </p:cNvPr>
              <p:cNvSpPr txBox="1"/>
              <p:nvPr/>
            </p:nvSpPr>
            <p:spPr>
              <a:xfrm>
                <a:off x="4305300" y="5521095"/>
                <a:ext cx="2476500" cy="619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Kotak Teks 8">
                <a:extLst>
                  <a:ext uri="{FF2B5EF4-FFF2-40B4-BE49-F238E27FC236}">
                    <a16:creationId xmlns:a16="http://schemas.microsoft.com/office/drawing/2014/main" id="{24440E68-E49B-58AB-6D26-81BADB0A6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300" y="5521095"/>
                <a:ext cx="2476500" cy="6190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Kotak Teks 9">
                <a:extLst>
                  <a:ext uri="{FF2B5EF4-FFF2-40B4-BE49-F238E27FC236}">
                    <a16:creationId xmlns:a16="http://schemas.microsoft.com/office/drawing/2014/main" id="{ACB71FBE-C08C-DA52-BD68-236E5A615BCB}"/>
                  </a:ext>
                </a:extLst>
              </p:cNvPr>
              <p:cNvSpPr txBox="1"/>
              <p:nvPr/>
            </p:nvSpPr>
            <p:spPr>
              <a:xfrm>
                <a:off x="4419600" y="4761367"/>
                <a:ext cx="2247900" cy="619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Kotak Teks 9">
                <a:extLst>
                  <a:ext uri="{FF2B5EF4-FFF2-40B4-BE49-F238E27FC236}">
                    <a16:creationId xmlns:a16="http://schemas.microsoft.com/office/drawing/2014/main" id="{ACB71FBE-C08C-DA52-BD68-236E5A615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4761367"/>
                <a:ext cx="2247900" cy="619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Kotak Teks 14">
                <a:extLst>
                  <a:ext uri="{FF2B5EF4-FFF2-40B4-BE49-F238E27FC236}">
                    <a16:creationId xmlns:a16="http://schemas.microsoft.com/office/drawing/2014/main" id="{36BC855B-CDB5-3639-E063-006D2353BBF0}"/>
                  </a:ext>
                </a:extLst>
              </p:cNvPr>
              <p:cNvSpPr txBox="1"/>
              <p:nvPr/>
            </p:nvSpPr>
            <p:spPr>
              <a:xfrm>
                <a:off x="1162050" y="1429629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8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800" dirty="0"/>
                  <a:t> dan b = 0.1 dan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5" name="Kotak Teks 14">
                <a:extLst>
                  <a:ext uri="{FF2B5EF4-FFF2-40B4-BE49-F238E27FC236}">
                    <a16:creationId xmlns:a16="http://schemas.microsoft.com/office/drawing/2014/main" id="{36BC855B-CDB5-3639-E063-006D2353B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050" y="1429629"/>
                <a:ext cx="4572000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Kotak Teks 2">
                <a:extLst>
                  <a:ext uri="{FF2B5EF4-FFF2-40B4-BE49-F238E27FC236}">
                    <a16:creationId xmlns:a16="http://schemas.microsoft.com/office/drawing/2014/main" id="{F0AC3538-435E-333E-E8EC-23F59A296A25}"/>
                  </a:ext>
                </a:extLst>
              </p:cNvPr>
              <p:cNvSpPr txBox="1"/>
              <p:nvPr/>
            </p:nvSpPr>
            <p:spPr>
              <a:xfrm>
                <a:off x="914400" y="4620720"/>
                <a:ext cx="2476500" cy="90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l-G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Kotak Teks 2">
                <a:extLst>
                  <a:ext uri="{FF2B5EF4-FFF2-40B4-BE49-F238E27FC236}">
                    <a16:creationId xmlns:a16="http://schemas.microsoft.com/office/drawing/2014/main" id="{F0AC3538-435E-333E-E8EC-23F59A296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620720"/>
                <a:ext cx="2476500" cy="9003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Kotak Teks 3">
                <a:extLst>
                  <a:ext uri="{FF2B5EF4-FFF2-40B4-BE49-F238E27FC236}">
                    <a16:creationId xmlns:a16="http://schemas.microsoft.com/office/drawing/2014/main" id="{14FC6A45-1951-D1B2-DA58-F4DEC1BEC047}"/>
                  </a:ext>
                </a:extLst>
              </p:cNvPr>
              <p:cNvSpPr txBox="1"/>
              <p:nvPr/>
            </p:nvSpPr>
            <p:spPr>
              <a:xfrm>
                <a:off x="781050" y="5460540"/>
                <a:ext cx="2476500" cy="90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l-G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l-G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Kotak Teks 3">
                <a:extLst>
                  <a:ext uri="{FF2B5EF4-FFF2-40B4-BE49-F238E27FC236}">
                    <a16:creationId xmlns:a16="http://schemas.microsoft.com/office/drawing/2014/main" id="{14FC6A45-1951-D1B2-DA58-F4DEC1BEC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50" y="5460540"/>
                <a:ext cx="2476500" cy="9003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21F69E-75FE-C2B9-A0EC-0954C9E08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628090"/>
              </p:ext>
            </p:extLst>
          </p:nvPr>
        </p:nvGraphicFramePr>
        <p:xfrm>
          <a:off x="694553" y="1837370"/>
          <a:ext cx="8340813" cy="26863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6757">
                  <a:extLst>
                    <a:ext uri="{9D8B030D-6E8A-4147-A177-3AD203B41FA5}">
                      <a16:colId xmlns:a16="http://schemas.microsoft.com/office/drawing/2014/main" val="2648096258"/>
                    </a:ext>
                  </a:extLst>
                </a:gridCol>
                <a:gridCol w="926757">
                  <a:extLst>
                    <a:ext uri="{9D8B030D-6E8A-4147-A177-3AD203B41FA5}">
                      <a16:colId xmlns:a16="http://schemas.microsoft.com/office/drawing/2014/main" val="808283420"/>
                    </a:ext>
                  </a:extLst>
                </a:gridCol>
                <a:gridCol w="926757">
                  <a:extLst>
                    <a:ext uri="{9D8B030D-6E8A-4147-A177-3AD203B41FA5}">
                      <a16:colId xmlns:a16="http://schemas.microsoft.com/office/drawing/2014/main" val="357015397"/>
                    </a:ext>
                  </a:extLst>
                </a:gridCol>
                <a:gridCol w="926757">
                  <a:extLst>
                    <a:ext uri="{9D8B030D-6E8A-4147-A177-3AD203B41FA5}">
                      <a16:colId xmlns:a16="http://schemas.microsoft.com/office/drawing/2014/main" val="519642732"/>
                    </a:ext>
                  </a:extLst>
                </a:gridCol>
                <a:gridCol w="926757">
                  <a:extLst>
                    <a:ext uri="{9D8B030D-6E8A-4147-A177-3AD203B41FA5}">
                      <a16:colId xmlns:a16="http://schemas.microsoft.com/office/drawing/2014/main" val="2767995886"/>
                    </a:ext>
                  </a:extLst>
                </a:gridCol>
                <a:gridCol w="926757">
                  <a:extLst>
                    <a:ext uri="{9D8B030D-6E8A-4147-A177-3AD203B41FA5}">
                      <a16:colId xmlns:a16="http://schemas.microsoft.com/office/drawing/2014/main" val="883789019"/>
                    </a:ext>
                  </a:extLst>
                </a:gridCol>
                <a:gridCol w="926757">
                  <a:extLst>
                    <a:ext uri="{9D8B030D-6E8A-4147-A177-3AD203B41FA5}">
                      <a16:colId xmlns:a16="http://schemas.microsoft.com/office/drawing/2014/main" val="2646727529"/>
                    </a:ext>
                  </a:extLst>
                </a:gridCol>
                <a:gridCol w="926757">
                  <a:extLst>
                    <a:ext uri="{9D8B030D-6E8A-4147-A177-3AD203B41FA5}">
                      <a16:colId xmlns:a16="http://schemas.microsoft.com/office/drawing/2014/main" val="1061577392"/>
                    </a:ext>
                  </a:extLst>
                </a:gridCol>
                <a:gridCol w="926757">
                  <a:extLst>
                    <a:ext uri="{9D8B030D-6E8A-4147-A177-3AD203B41FA5}">
                      <a16:colId xmlns:a16="http://schemas.microsoft.com/office/drawing/2014/main" val="1842672448"/>
                    </a:ext>
                  </a:extLst>
                </a:gridCol>
              </a:tblGrid>
              <a:tr h="191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f1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f2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z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sigma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y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(sigma-y)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w1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w2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6262765"/>
                  </a:ext>
                </a:extLst>
              </a:tr>
              <a:tr h="2508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 dirty="0">
                          <a:effectLst/>
                        </a:rPr>
                        <a:t>0.9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0.71095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0.148161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-0.28905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-0.28905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-0.28905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3436083"/>
                  </a:ext>
                </a:extLst>
              </a:tr>
              <a:tr h="2508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0.28905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0.148161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0.28905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-0.28905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0.28905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52603362"/>
                  </a:ext>
                </a:extLst>
              </a:tr>
              <a:tr h="2508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1.1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0.75026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0.602512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0.75026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0.75026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-0.75026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29777363"/>
                  </a:ext>
                </a:extLst>
              </a:tr>
              <a:tr h="25088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0.331812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0.175101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0.331812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-0.33181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-0.33181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63284314"/>
                  </a:ext>
                </a:extLst>
              </a:tr>
              <a:tr h="2508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Total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1.073936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0.216414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-0.15965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-1.08207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79281541"/>
                  </a:ext>
                </a:extLst>
              </a:tr>
              <a:tr h="191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J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0.268484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2881834"/>
                  </a:ext>
                </a:extLst>
              </a:tr>
              <a:tr h="2508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dw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-0.03991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-4.32829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49077000"/>
                  </a:ext>
                </a:extLst>
              </a:tr>
              <a:tr h="191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db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0.054104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32416140"/>
                  </a:ext>
                </a:extLst>
              </a:tr>
              <a:tr h="191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w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0.903991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0.332829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69548059"/>
                  </a:ext>
                </a:extLst>
              </a:tr>
              <a:tr h="19188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b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0.09459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35190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0571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D0FEAB1-129A-1BD2-ED63-3F40C1D3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Epoch 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E84446-7281-E80D-FF0A-46A0EAE5B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516124"/>
              </p:ext>
            </p:extLst>
          </p:nvPr>
        </p:nvGraphicFramePr>
        <p:xfrm>
          <a:off x="749126" y="2161815"/>
          <a:ext cx="8126768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440">
                  <a:extLst>
                    <a:ext uri="{9D8B030D-6E8A-4147-A177-3AD203B41FA5}">
                      <a16:colId xmlns:a16="http://schemas.microsoft.com/office/drawing/2014/main" val="2149508979"/>
                    </a:ext>
                  </a:extLst>
                </a:gridCol>
                <a:gridCol w="988541">
                  <a:extLst>
                    <a:ext uri="{9D8B030D-6E8A-4147-A177-3AD203B41FA5}">
                      <a16:colId xmlns:a16="http://schemas.microsoft.com/office/drawing/2014/main" val="302941258"/>
                    </a:ext>
                  </a:extLst>
                </a:gridCol>
                <a:gridCol w="988541">
                  <a:extLst>
                    <a:ext uri="{9D8B030D-6E8A-4147-A177-3AD203B41FA5}">
                      <a16:colId xmlns:a16="http://schemas.microsoft.com/office/drawing/2014/main" val="1570698846"/>
                    </a:ext>
                  </a:extLst>
                </a:gridCol>
                <a:gridCol w="988541">
                  <a:extLst>
                    <a:ext uri="{9D8B030D-6E8A-4147-A177-3AD203B41FA5}">
                      <a16:colId xmlns:a16="http://schemas.microsoft.com/office/drawing/2014/main" val="839848099"/>
                    </a:ext>
                  </a:extLst>
                </a:gridCol>
                <a:gridCol w="988541">
                  <a:extLst>
                    <a:ext uri="{9D8B030D-6E8A-4147-A177-3AD203B41FA5}">
                      <a16:colId xmlns:a16="http://schemas.microsoft.com/office/drawing/2014/main" val="1271580936"/>
                    </a:ext>
                  </a:extLst>
                </a:gridCol>
                <a:gridCol w="988541">
                  <a:extLst>
                    <a:ext uri="{9D8B030D-6E8A-4147-A177-3AD203B41FA5}">
                      <a16:colId xmlns:a16="http://schemas.microsoft.com/office/drawing/2014/main" val="147700476"/>
                    </a:ext>
                  </a:extLst>
                </a:gridCol>
                <a:gridCol w="988541">
                  <a:extLst>
                    <a:ext uri="{9D8B030D-6E8A-4147-A177-3AD203B41FA5}">
                      <a16:colId xmlns:a16="http://schemas.microsoft.com/office/drawing/2014/main" val="2885631058"/>
                    </a:ext>
                  </a:extLst>
                </a:gridCol>
                <a:gridCol w="988541">
                  <a:extLst>
                    <a:ext uri="{9D8B030D-6E8A-4147-A177-3AD203B41FA5}">
                      <a16:colId xmlns:a16="http://schemas.microsoft.com/office/drawing/2014/main" val="3749064941"/>
                    </a:ext>
                  </a:extLst>
                </a:gridCol>
                <a:gridCol w="988541">
                  <a:extLst>
                    <a:ext uri="{9D8B030D-6E8A-4147-A177-3AD203B41FA5}">
                      <a16:colId xmlns:a16="http://schemas.microsoft.com/office/drawing/2014/main" val="165128819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f1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f2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z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sigma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y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(sigma-y)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w1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w2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36321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 dirty="0">
                          <a:effectLst/>
                        </a:rPr>
                        <a:t>1.33141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0.791074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0.101783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-0.20893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-0.20893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-0.20893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1147408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-0.47657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0.383062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0.209758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0.383062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-0.38306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0.383062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576555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0.665752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0.660551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0.469226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0.660551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0.660551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-0.66055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451042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-1.14223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0.241911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0.12028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0.241911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-0.24191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-0.24191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819675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Total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0.901047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0.21532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-0.17335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-0.72833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994703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J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0.225262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168577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dw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-0.04334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-2.91331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281376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db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0.05383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910163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616271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w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0.908325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0.62416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218783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b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0.089207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14401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232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5AFA0D7-8221-9583-1358-4C9551597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Epoch 3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216418-F7FC-F29B-3729-FA4984BF9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188519"/>
              </p:ext>
            </p:extLst>
          </p:nvPr>
        </p:nvGraphicFramePr>
        <p:xfrm>
          <a:off x="650274" y="2014151"/>
          <a:ext cx="8306624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440">
                  <a:extLst>
                    <a:ext uri="{9D8B030D-6E8A-4147-A177-3AD203B41FA5}">
                      <a16:colId xmlns:a16="http://schemas.microsoft.com/office/drawing/2014/main" val="1906630801"/>
                    </a:ext>
                  </a:extLst>
                </a:gridCol>
                <a:gridCol w="1011023">
                  <a:extLst>
                    <a:ext uri="{9D8B030D-6E8A-4147-A177-3AD203B41FA5}">
                      <a16:colId xmlns:a16="http://schemas.microsoft.com/office/drawing/2014/main" val="3683471743"/>
                    </a:ext>
                  </a:extLst>
                </a:gridCol>
                <a:gridCol w="1011023">
                  <a:extLst>
                    <a:ext uri="{9D8B030D-6E8A-4147-A177-3AD203B41FA5}">
                      <a16:colId xmlns:a16="http://schemas.microsoft.com/office/drawing/2014/main" val="4207980376"/>
                    </a:ext>
                  </a:extLst>
                </a:gridCol>
                <a:gridCol w="1011023">
                  <a:extLst>
                    <a:ext uri="{9D8B030D-6E8A-4147-A177-3AD203B41FA5}">
                      <a16:colId xmlns:a16="http://schemas.microsoft.com/office/drawing/2014/main" val="2772429385"/>
                    </a:ext>
                  </a:extLst>
                </a:gridCol>
                <a:gridCol w="1011023">
                  <a:extLst>
                    <a:ext uri="{9D8B030D-6E8A-4147-A177-3AD203B41FA5}">
                      <a16:colId xmlns:a16="http://schemas.microsoft.com/office/drawing/2014/main" val="1795735106"/>
                    </a:ext>
                  </a:extLst>
                </a:gridCol>
                <a:gridCol w="1011023">
                  <a:extLst>
                    <a:ext uri="{9D8B030D-6E8A-4147-A177-3AD203B41FA5}">
                      <a16:colId xmlns:a16="http://schemas.microsoft.com/office/drawing/2014/main" val="1422993422"/>
                    </a:ext>
                  </a:extLst>
                </a:gridCol>
                <a:gridCol w="1011023">
                  <a:extLst>
                    <a:ext uri="{9D8B030D-6E8A-4147-A177-3AD203B41FA5}">
                      <a16:colId xmlns:a16="http://schemas.microsoft.com/office/drawing/2014/main" val="3498167519"/>
                    </a:ext>
                  </a:extLst>
                </a:gridCol>
                <a:gridCol w="1011023">
                  <a:extLst>
                    <a:ext uri="{9D8B030D-6E8A-4147-A177-3AD203B41FA5}">
                      <a16:colId xmlns:a16="http://schemas.microsoft.com/office/drawing/2014/main" val="1857583997"/>
                    </a:ext>
                  </a:extLst>
                </a:gridCol>
                <a:gridCol w="1011023">
                  <a:extLst>
                    <a:ext uri="{9D8B030D-6E8A-4147-A177-3AD203B41FA5}">
                      <a16:colId xmlns:a16="http://schemas.microsoft.com/office/drawing/2014/main" val="23923664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f1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f2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z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sigma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y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(sigma-y)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w1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w2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781346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1.621691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0.835028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0.078299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-0.16497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-0.16497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-0.16497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250718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 dirty="0">
                          <a:effectLst/>
                        </a:rPr>
                        <a:t>-0.19496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0.451414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0.260755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0.451414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-0.45141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0.451414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053310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0.373372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0.592274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0.389631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0.592274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0.592274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-0.59227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88269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-1.44328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0.191038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0.092072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0.191038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-0.19104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-0.19104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282730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Total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0.820757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0.213951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-0.21515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-0.49687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867333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J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0.205189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128869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dw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-0.05379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-1.98748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39220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db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0.053488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575903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209643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w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0.913704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0.822907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114790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b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0.083858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9397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0154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5261035-CE26-FB15-9183-F334FE633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Epoch 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F5B878-B5C1-5426-23C2-05D29205A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860686"/>
              </p:ext>
            </p:extLst>
          </p:nvPr>
        </p:nvGraphicFramePr>
        <p:xfrm>
          <a:off x="173612" y="1838412"/>
          <a:ext cx="8796776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440">
                  <a:extLst>
                    <a:ext uri="{9D8B030D-6E8A-4147-A177-3AD203B41FA5}">
                      <a16:colId xmlns:a16="http://schemas.microsoft.com/office/drawing/2014/main" val="826166127"/>
                    </a:ext>
                  </a:extLst>
                </a:gridCol>
                <a:gridCol w="1072292">
                  <a:extLst>
                    <a:ext uri="{9D8B030D-6E8A-4147-A177-3AD203B41FA5}">
                      <a16:colId xmlns:a16="http://schemas.microsoft.com/office/drawing/2014/main" val="4050268191"/>
                    </a:ext>
                  </a:extLst>
                </a:gridCol>
                <a:gridCol w="1072292">
                  <a:extLst>
                    <a:ext uri="{9D8B030D-6E8A-4147-A177-3AD203B41FA5}">
                      <a16:colId xmlns:a16="http://schemas.microsoft.com/office/drawing/2014/main" val="750806758"/>
                    </a:ext>
                  </a:extLst>
                </a:gridCol>
                <a:gridCol w="1072292">
                  <a:extLst>
                    <a:ext uri="{9D8B030D-6E8A-4147-A177-3AD203B41FA5}">
                      <a16:colId xmlns:a16="http://schemas.microsoft.com/office/drawing/2014/main" val="2971095249"/>
                    </a:ext>
                  </a:extLst>
                </a:gridCol>
                <a:gridCol w="1072292">
                  <a:extLst>
                    <a:ext uri="{9D8B030D-6E8A-4147-A177-3AD203B41FA5}">
                      <a16:colId xmlns:a16="http://schemas.microsoft.com/office/drawing/2014/main" val="366363926"/>
                    </a:ext>
                  </a:extLst>
                </a:gridCol>
                <a:gridCol w="1072292">
                  <a:extLst>
                    <a:ext uri="{9D8B030D-6E8A-4147-A177-3AD203B41FA5}">
                      <a16:colId xmlns:a16="http://schemas.microsoft.com/office/drawing/2014/main" val="730084326"/>
                    </a:ext>
                  </a:extLst>
                </a:gridCol>
                <a:gridCol w="1072292">
                  <a:extLst>
                    <a:ext uri="{9D8B030D-6E8A-4147-A177-3AD203B41FA5}">
                      <a16:colId xmlns:a16="http://schemas.microsoft.com/office/drawing/2014/main" val="2763880474"/>
                    </a:ext>
                  </a:extLst>
                </a:gridCol>
                <a:gridCol w="1072292">
                  <a:extLst>
                    <a:ext uri="{9D8B030D-6E8A-4147-A177-3AD203B41FA5}">
                      <a16:colId xmlns:a16="http://schemas.microsoft.com/office/drawing/2014/main" val="3519359613"/>
                    </a:ext>
                  </a:extLst>
                </a:gridCol>
                <a:gridCol w="1072292">
                  <a:extLst>
                    <a:ext uri="{9D8B030D-6E8A-4147-A177-3AD203B41FA5}">
                      <a16:colId xmlns:a16="http://schemas.microsoft.com/office/drawing/2014/main" val="129684480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f1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f2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z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sigma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y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(sigma-y)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w1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w2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925712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1.820469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0.860622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0.065187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-0.13938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-0.13938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-0.13938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047821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-0.00694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0.498265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0.299526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0.498265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-0.49827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0.498265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880130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 dirty="0">
                          <a:effectLst/>
                        </a:rPr>
                        <a:t>0.174654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0.543553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0.34061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0.543553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0.543553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-0.54355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43428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-1.65275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0.160737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0.076102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0.160737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-0.16074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-0.16074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056234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Total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0.781425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0.212636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-0.25483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-0.3454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805500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J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0.195356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58618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dw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-0.06371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-1.38161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556251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db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0.053159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1279072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98520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w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0.920074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0.961068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654533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b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0.078542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37122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2650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122F6A2-31B2-B15C-EF31-F554538FE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Epoch 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ED8993-BA29-F78C-8062-59048E93B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225727"/>
              </p:ext>
            </p:extLst>
          </p:nvPr>
        </p:nvGraphicFramePr>
        <p:xfrm>
          <a:off x="766119" y="1810608"/>
          <a:ext cx="7923771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0419">
                  <a:extLst>
                    <a:ext uri="{9D8B030D-6E8A-4147-A177-3AD203B41FA5}">
                      <a16:colId xmlns:a16="http://schemas.microsoft.com/office/drawing/2014/main" val="1106456560"/>
                    </a:ext>
                  </a:extLst>
                </a:gridCol>
                <a:gridCol w="880419">
                  <a:extLst>
                    <a:ext uri="{9D8B030D-6E8A-4147-A177-3AD203B41FA5}">
                      <a16:colId xmlns:a16="http://schemas.microsoft.com/office/drawing/2014/main" val="321338441"/>
                    </a:ext>
                  </a:extLst>
                </a:gridCol>
                <a:gridCol w="880419">
                  <a:extLst>
                    <a:ext uri="{9D8B030D-6E8A-4147-A177-3AD203B41FA5}">
                      <a16:colId xmlns:a16="http://schemas.microsoft.com/office/drawing/2014/main" val="4073983768"/>
                    </a:ext>
                  </a:extLst>
                </a:gridCol>
                <a:gridCol w="880419">
                  <a:extLst>
                    <a:ext uri="{9D8B030D-6E8A-4147-A177-3AD203B41FA5}">
                      <a16:colId xmlns:a16="http://schemas.microsoft.com/office/drawing/2014/main" val="3919247982"/>
                    </a:ext>
                  </a:extLst>
                </a:gridCol>
                <a:gridCol w="880419">
                  <a:extLst>
                    <a:ext uri="{9D8B030D-6E8A-4147-A177-3AD203B41FA5}">
                      <a16:colId xmlns:a16="http://schemas.microsoft.com/office/drawing/2014/main" val="2274088513"/>
                    </a:ext>
                  </a:extLst>
                </a:gridCol>
                <a:gridCol w="880419">
                  <a:extLst>
                    <a:ext uri="{9D8B030D-6E8A-4147-A177-3AD203B41FA5}">
                      <a16:colId xmlns:a16="http://schemas.microsoft.com/office/drawing/2014/main" val="817745661"/>
                    </a:ext>
                  </a:extLst>
                </a:gridCol>
                <a:gridCol w="880419">
                  <a:extLst>
                    <a:ext uri="{9D8B030D-6E8A-4147-A177-3AD203B41FA5}">
                      <a16:colId xmlns:a16="http://schemas.microsoft.com/office/drawing/2014/main" val="522696140"/>
                    </a:ext>
                  </a:extLst>
                </a:gridCol>
                <a:gridCol w="880419">
                  <a:extLst>
                    <a:ext uri="{9D8B030D-6E8A-4147-A177-3AD203B41FA5}">
                      <a16:colId xmlns:a16="http://schemas.microsoft.com/office/drawing/2014/main" val="346498903"/>
                    </a:ext>
                  </a:extLst>
                </a:gridCol>
                <a:gridCol w="880419">
                  <a:extLst>
                    <a:ext uri="{9D8B030D-6E8A-4147-A177-3AD203B41FA5}">
                      <a16:colId xmlns:a16="http://schemas.microsoft.com/office/drawing/2014/main" val="125139849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f1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f2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z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sigma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y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(sigma-y)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w1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w2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06614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1.959685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0.876499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0.057249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-0.1235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-0.1235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-0.1235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357581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0.119536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0.529848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0.327762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0.529848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-0.52985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0.529848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01795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0.037548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0.509386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0.30926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0.509386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0.509386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-0.50939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71464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-1.8026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0.141535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0.066277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0.141535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-0.14153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-0.14153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271989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Total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0.760548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0.211454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-0.2855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-0.24457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567238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J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0.190137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663598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dw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-0.07137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-0.97829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53568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db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0.052863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 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427976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168679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w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0.927212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 dirty="0">
                          <a:effectLst/>
                        </a:rPr>
                        <a:t>1.058898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183447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b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500" u="none" strike="noStrike">
                          <a:effectLst/>
                        </a:rPr>
                        <a:t>0.073256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46602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29049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F46B260-9B80-612E-A16D-E2380BF12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Pengujian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Kotak Teks 3">
                <a:extLst>
                  <a:ext uri="{FF2B5EF4-FFF2-40B4-BE49-F238E27FC236}">
                    <a16:creationId xmlns:a16="http://schemas.microsoft.com/office/drawing/2014/main" id="{9B53DFAA-75F6-9A2B-4014-6FCAD0FB3A25}"/>
                  </a:ext>
                </a:extLst>
              </p:cNvPr>
              <p:cNvSpPr txBox="1"/>
              <p:nvPr/>
            </p:nvSpPr>
            <p:spPr>
              <a:xfrm>
                <a:off x="1200150" y="1771650"/>
                <a:ext cx="6286500" cy="11392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Diketahui f1 = 1 dan f2= 2</a:t>
                </a:r>
              </a:p>
              <a:p>
                <a:r>
                  <a:rPr lang="en-US" dirty="0"/>
                  <a:t>Dimana </a:t>
                </a:r>
                <a:r>
                  <a:rPr lang="en-US" dirty="0" err="1"/>
                  <a:t>hasil</a:t>
                </a:r>
                <a:r>
                  <a:rPr lang="en-US" dirty="0"/>
                  <a:t> epoch 5: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0,927212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1,058898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dan b = 0,073256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Kotak Teks 3">
                <a:extLst>
                  <a:ext uri="{FF2B5EF4-FFF2-40B4-BE49-F238E27FC236}">
                    <a16:creationId xmlns:a16="http://schemas.microsoft.com/office/drawing/2014/main" id="{9B53DFAA-75F6-9A2B-4014-6FCAD0FB3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150" y="1771650"/>
                <a:ext cx="6286500" cy="1139286"/>
              </a:xfrm>
              <a:prstGeom prst="rect">
                <a:avLst/>
              </a:prstGeom>
              <a:blipFill>
                <a:blip r:embed="rId2"/>
                <a:stretch>
                  <a:fillRect l="-873" t="-320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Kotak Teks 4">
                <a:extLst>
                  <a:ext uri="{FF2B5EF4-FFF2-40B4-BE49-F238E27FC236}">
                    <a16:creationId xmlns:a16="http://schemas.microsoft.com/office/drawing/2014/main" id="{BB116165-F654-7DAB-36DA-CA2E8D0602FC}"/>
                  </a:ext>
                </a:extLst>
              </p:cNvPr>
              <p:cNvSpPr txBox="1"/>
              <p:nvPr/>
            </p:nvSpPr>
            <p:spPr>
              <a:xfrm>
                <a:off x="1543050" y="2791881"/>
                <a:ext cx="2343150" cy="932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Kotak Teks 4">
                <a:extLst>
                  <a:ext uri="{FF2B5EF4-FFF2-40B4-BE49-F238E27FC236}">
                    <a16:creationId xmlns:a16="http://schemas.microsoft.com/office/drawing/2014/main" id="{BB116165-F654-7DAB-36DA-CA2E8D060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050" y="2791881"/>
                <a:ext cx="2343150" cy="932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Kotak Teks 5">
                <a:extLst>
                  <a:ext uri="{FF2B5EF4-FFF2-40B4-BE49-F238E27FC236}">
                    <a16:creationId xmlns:a16="http://schemas.microsoft.com/office/drawing/2014/main" id="{A0A633DA-EEFB-22B7-C4AB-E4E1FBA82E89}"/>
                  </a:ext>
                </a:extLst>
              </p:cNvPr>
              <p:cNvSpPr txBox="1"/>
              <p:nvPr/>
            </p:nvSpPr>
            <p:spPr>
              <a:xfrm>
                <a:off x="4038600" y="2919701"/>
                <a:ext cx="3619500" cy="675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Kotak Teks 5">
                <a:extLst>
                  <a:ext uri="{FF2B5EF4-FFF2-40B4-BE49-F238E27FC236}">
                    <a16:creationId xmlns:a16="http://schemas.microsoft.com/office/drawing/2014/main" id="{A0A633DA-EEFB-22B7-C4AB-E4E1FBA82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2919701"/>
                <a:ext cx="3619500" cy="6756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26D00C-E001-8147-6B5E-10552D5FF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621216"/>
              </p:ext>
            </p:extLst>
          </p:nvPr>
        </p:nvGraphicFramePr>
        <p:xfrm>
          <a:off x="1752600" y="4404361"/>
          <a:ext cx="5181600" cy="563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6320">
                  <a:extLst>
                    <a:ext uri="{9D8B030D-6E8A-4147-A177-3AD203B41FA5}">
                      <a16:colId xmlns:a16="http://schemas.microsoft.com/office/drawing/2014/main" val="2821200149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73269354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1419697312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058303195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418333508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Pengujian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z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P(y=1|x)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P(y=0|x)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031270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3.118263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0.95764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0.04236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89813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0437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50B7271E-322A-FB22-17F4-01003A39A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endParaRPr lang="en-US" dirty="0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D9995BD8-7AB1-B8E6-8646-D588D80CB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96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1504950"/>
            <a:ext cx="7200900" cy="436245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Gunakan</a:t>
            </a:r>
            <a:r>
              <a:rPr lang="en-US" dirty="0"/>
              <a:t> data kalian, </a:t>
            </a:r>
            <a:r>
              <a:rPr lang="en-US" dirty="0" err="1"/>
              <a:t>ambil</a:t>
            </a:r>
            <a:r>
              <a:rPr lang="en-US" dirty="0"/>
              <a:t> 5 data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data </a:t>
            </a:r>
            <a:r>
              <a:rPr lang="en-US" dirty="0" err="1"/>
              <a:t>latih</a:t>
            </a:r>
            <a:r>
              <a:rPr lang="en-US" dirty="0"/>
              <a:t> (</a:t>
            </a:r>
            <a:r>
              <a:rPr lang="en-US" dirty="0" err="1"/>
              <a:t>pastikan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, </a:t>
            </a:r>
            <a:r>
              <a:rPr lang="en-US" dirty="0" err="1"/>
              <a:t>ambil</a:t>
            </a:r>
            <a:r>
              <a:rPr lang="en-US" dirty="0"/>
              <a:t> 2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), 1 data uji</a:t>
            </a:r>
            <a:endParaRPr dirty="0"/>
          </a:p>
          <a:p>
            <a:endParaRPr dirty="0"/>
          </a:p>
          <a:p>
            <a:r>
              <a:rPr dirty="0"/>
              <a:t>Langkah: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Tampilkan</a:t>
            </a:r>
            <a:r>
              <a:rPr lang="en-US" dirty="0"/>
              <a:t> 5 data </a:t>
            </a:r>
            <a:r>
              <a:rPr lang="en-US" dirty="0" err="1"/>
              <a:t>latih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Perlihatkan</a:t>
            </a:r>
            <a:r>
              <a:rPr lang="en-US" dirty="0"/>
              <a:t> Langkah per </a:t>
            </a:r>
            <a:r>
              <a:rPr lang="en-US" dirty="0" err="1"/>
              <a:t>langkah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melatih</a:t>
            </a:r>
            <a:r>
              <a:rPr lang="en-US" dirty="0"/>
              <a:t> logistic </a:t>
            </a:r>
            <a:r>
              <a:rPr lang="en-US" dirty="0" err="1"/>
              <a:t>regresi</a:t>
            </a:r>
            <a:r>
              <a:rPr lang="en-US" dirty="0"/>
              <a:t> (</a:t>
            </a:r>
            <a:r>
              <a:rPr lang="en-US" dirty="0" err="1"/>
              <a:t>perhatikan</a:t>
            </a:r>
            <a:r>
              <a:rPr lang="en-US" dirty="0"/>
              <a:t> </a:t>
            </a:r>
            <a:r>
              <a:rPr lang="en-US" dirty="0" err="1"/>
              <a:t>psedo</a:t>
            </a:r>
            <a:r>
              <a:rPr lang="en-US" dirty="0"/>
              <a:t>) </a:t>
            </a:r>
            <a:r>
              <a:rPr lang="en-US" dirty="0" err="1"/>
              <a:t>dalam</a:t>
            </a:r>
            <a:r>
              <a:rPr lang="en-US" dirty="0"/>
              <a:t> 2 epoch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Masukan</a:t>
            </a:r>
            <a:r>
              <a:rPr lang="en-US" dirty="0"/>
              <a:t> data uji, </a:t>
            </a:r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klasifikasinya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Buat</a:t>
            </a:r>
            <a:r>
              <a:rPr lang="en-US" dirty="0"/>
              <a:t> program:</a:t>
            </a:r>
          </a:p>
          <a:p>
            <a:pPr marL="457200" indent="-457200">
              <a:buFont typeface="+mj-lt"/>
              <a:buAutoNum type="alphaLcPeriod"/>
            </a:pPr>
            <a:r>
              <a:rPr lang="en-US" dirty="0" err="1"/>
              <a:t>untuk</a:t>
            </a:r>
            <a:r>
              <a:rPr lang="en-US" dirty="0"/>
              <a:t> 5 data </a:t>
            </a:r>
            <a:r>
              <a:rPr lang="en-US" dirty="0" err="1"/>
              <a:t>latih</a:t>
            </a:r>
            <a:r>
              <a:rPr lang="en-US" dirty="0"/>
              <a:t> dan 1 data uji, </a:t>
            </a:r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klasifikasi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logistic </a:t>
            </a:r>
            <a:r>
              <a:rPr lang="en-US" dirty="0" err="1"/>
              <a:t>regresi</a:t>
            </a:r>
            <a:endParaRPr lang="en-US" dirty="0"/>
          </a:p>
          <a:p>
            <a:pPr marL="457200" indent="-457200">
              <a:buFont typeface="+mj-lt"/>
              <a:buAutoNum type="alphaLcPeriod"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data 80%:20%</a:t>
            </a:r>
          </a:p>
          <a:p>
            <a:pPr marL="0" indent="0">
              <a:buNone/>
            </a:pPr>
            <a:r>
              <a:rPr lang="en-US" dirty="0" err="1"/>
              <a:t>Catatan</a:t>
            </a:r>
            <a:r>
              <a:rPr lang="en-US" dirty="0"/>
              <a:t>: Jika </a:t>
            </a:r>
            <a:r>
              <a:rPr lang="en-US" dirty="0" err="1"/>
              <a:t>membutuhkan</a:t>
            </a:r>
            <a:r>
              <a:rPr lang="en-US" dirty="0"/>
              <a:t> </a:t>
            </a:r>
            <a:r>
              <a:rPr lang="en-US" dirty="0" err="1"/>
              <a:t>praproses</a:t>
            </a:r>
            <a:r>
              <a:rPr lang="en-US" dirty="0"/>
              <a:t>, </a:t>
            </a:r>
            <a:r>
              <a:rPr lang="en-US" dirty="0" err="1"/>
              <a:t>gunakan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ngkas">
  <a:themeElements>
    <a:clrScheme name="Pangkas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Pangkas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ngka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TM10001105[[fn=Pangkas]]</Template>
  <TotalTime>725</TotalTime>
  <Words>1576</Words>
  <Application>Microsoft Office PowerPoint</Application>
  <PresentationFormat>On-screen Show (4:3)</PresentationFormat>
  <Paragraphs>690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Narrow</vt:lpstr>
      <vt:lpstr>Arial</vt:lpstr>
      <vt:lpstr>Cambria Math</vt:lpstr>
      <vt:lpstr>Franklin Gothic Book</vt:lpstr>
      <vt:lpstr>Pangkas</vt:lpstr>
      <vt:lpstr>Logistic Regression</vt:lpstr>
      <vt:lpstr>konsep dasar regresi logistik dan perbedaannya dengan regresi linier. </vt:lpstr>
      <vt:lpstr>Motivasi dan Konsep Dasar</vt:lpstr>
      <vt:lpstr>Perbedaan</vt:lpstr>
      <vt:lpstr>fungsi logit dan sigmoid </vt:lpstr>
      <vt:lpstr>ODD’s</vt:lpstr>
      <vt:lpstr>Fungsi logit</vt:lpstr>
      <vt:lpstr>Fungsi Sigmoid</vt:lpstr>
      <vt:lpstr>Estimasi Parameter - Maximum Likelihood Estimation</vt:lpstr>
      <vt:lpstr>ASUMSI</vt:lpstr>
      <vt:lpstr>Asumsi</vt:lpstr>
      <vt:lpstr>Cara cek linieritas </vt:lpstr>
      <vt:lpstr>Masalah</vt:lpstr>
      <vt:lpstr>Masalah</vt:lpstr>
      <vt:lpstr>Keuntungan dan kerugian</vt:lpstr>
      <vt:lpstr>Kelebihan &amp; Kekurangan Logistic Regression</vt:lpstr>
      <vt:lpstr>Evaluasi</vt:lpstr>
      <vt:lpstr>Evaluasi Model</vt:lpstr>
      <vt:lpstr>Psedo</vt:lpstr>
      <vt:lpstr>PowerPoint Presentation</vt:lpstr>
      <vt:lpstr>contoh</vt:lpstr>
      <vt:lpstr>Jawaban</vt:lpstr>
      <vt:lpstr>Jawaban</vt:lpstr>
      <vt:lpstr>Jawaban</vt:lpstr>
      <vt:lpstr>Epoch 2</vt:lpstr>
      <vt:lpstr>Epoch 3</vt:lpstr>
      <vt:lpstr>Epoch 4</vt:lpstr>
      <vt:lpstr>Epoch 5</vt:lpstr>
      <vt:lpstr>Pengujian</vt:lpstr>
      <vt:lpstr>Tugas</vt:lpstr>
      <vt:lpstr>Tugas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ASUS</cp:lastModifiedBy>
  <cp:revision>7</cp:revision>
  <dcterms:created xsi:type="dcterms:W3CDTF">2013-01-27T09:14:16Z</dcterms:created>
  <dcterms:modified xsi:type="dcterms:W3CDTF">2025-10-31T02:33:07Z</dcterms:modified>
  <cp:category/>
</cp:coreProperties>
</file>